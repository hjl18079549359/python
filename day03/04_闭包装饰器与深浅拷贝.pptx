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56" r:id="rId4"/>
    <p:sldMasterId id="2147483659" r:id="rId5"/>
    <p:sldMasterId id="2147483662" r:id="rId6"/>
    <p:sldMasterId id="2147483664" r:id="rId7"/>
    <p:sldMasterId id="2147483683" r:id="rId8"/>
    <p:sldMasterId id="2147483685" r:id="rId9"/>
    <p:sldMasterId id="2147483703" r:id="rId10"/>
    <p:sldMasterId id="2147483721" r:id="rId11"/>
    <p:sldMasterId id="2147483724" r:id="rId12"/>
    <p:sldMasterId id="2147483727" r:id="rId13"/>
  </p:sldMasterIdLst>
  <p:notesMasterIdLst>
    <p:notesMasterId r:id="rId48"/>
  </p:notesMasterIdLst>
  <p:handoutMasterIdLst>
    <p:handoutMasterId r:id="rId59"/>
  </p:handoutMasterIdLst>
  <p:sldIdLst>
    <p:sldId id="1095" r:id="rId14"/>
    <p:sldId id="1833" r:id="rId15"/>
    <p:sldId id="1820" r:id="rId16"/>
    <p:sldId id="1818" r:id="rId17"/>
    <p:sldId id="1708" r:id="rId18"/>
    <p:sldId id="1814" r:id="rId19"/>
    <p:sldId id="1709" r:id="rId20"/>
    <p:sldId id="1815" r:id="rId21"/>
    <p:sldId id="1817" r:id="rId22"/>
    <p:sldId id="1710" r:id="rId23"/>
    <p:sldId id="1821" r:id="rId24"/>
    <p:sldId id="1699" r:id="rId25"/>
    <p:sldId id="1700" r:id="rId26"/>
    <p:sldId id="1823" r:id="rId27"/>
    <p:sldId id="1717" r:id="rId28"/>
    <p:sldId id="1824" r:id="rId29"/>
    <p:sldId id="1825" r:id="rId30"/>
    <p:sldId id="1826" r:id="rId31"/>
    <p:sldId id="1711" r:id="rId32"/>
    <p:sldId id="1713" r:id="rId33"/>
    <p:sldId id="1827" r:id="rId34"/>
    <p:sldId id="1828" r:id="rId35"/>
    <p:sldId id="1829" r:id="rId36"/>
    <p:sldId id="1705" r:id="rId37"/>
    <p:sldId id="1702" r:id="rId38"/>
    <p:sldId id="1703" r:id="rId39"/>
    <p:sldId id="1704" r:id="rId40"/>
    <p:sldId id="1784" r:id="rId41"/>
    <p:sldId id="1831" r:id="rId42"/>
    <p:sldId id="1830" r:id="rId43"/>
    <p:sldId id="1832" r:id="rId44"/>
    <p:sldId id="1706" r:id="rId45"/>
    <p:sldId id="1834" r:id="rId46"/>
    <p:sldId id="689" r:id="rId47"/>
    <p:sldId id="690" r:id="rId49"/>
    <p:sldId id="691" r:id="rId50"/>
    <p:sldId id="692" r:id="rId51"/>
    <p:sldId id="693" r:id="rId52"/>
    <p:sldId id="694" r:id="rId53"/>
    <p:sldId id="695" r:id="rId54"/>
    <p:sldId id="696" r:id="rId55"/>
    <p:sldId id="697" r:id="rId56"/>
    <p:sldId id="1835" r:id="rId57"/>
    <p:sldId id="1696" r:id="rId58"/>
  </p:sldIdLst>
  <p:sldSz cx="12192000" cy="6858000"/>
  <p:notesSz cx="6858000" cy="9144000"/>
  <p:custDataLst>
    <p:tags r:id="rId6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6400"/>
    <a:srgbClr val="49504F"/>
    <a:srgbClr val="B60206"/>
    <a:srgbClr val="AD2B2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89" autoAdjust="0"/>
    <p:restoredTop sz="95377" autoAdjust="0"/>
  </p:normalViewPr>
  <p:slideViewPr>
    <p:cSldViewPr snapToGrid="0">
      <p:cViewPr varScale="1">
        <p:scale>
          <a:sx n="105" d="100"/>
          <a:sy n="105" d="100"/>
        </p:scale>
        <p:origin x="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3" Type="http://schemas.openxmlformats.org/officeDocument/2006/relationships/tags" Target="tags/tag1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Master" Target="slideMasters/slideMaster5.xml"/><Relationship Id="rId59" Type="http://schemas.openxmlformats.org/officeDocument/2006/relationships/handoutMaster" Target="handoutMasters/handoutMaster1.xml"/><Relationship Id="rId58" Type="http://schemas.openxmlformats.org/officeDocument/2006/relationships/slide" Target="slides/slide44.xml"/><Relationship Id="rId57" Type="http://schemas.openxmlformats.org/officeDocument/2006/relationships/slide" Target="slides/slide43.xml"/><Relationship Id="rId56" Type="http://schemas.openxmlformats.org/officeDocument/2006/relationships/slide" Target="slides/slide42.xml"/><Relationship Id="rId55" Type="http://schemas.openxmlformats.org/officeDocument/2006/relationships/slide" Target="slides/slide41.xml"/><Relationship Id="rId54" Type="http://schemas.openxmlformats.org/officeDocument/2006/relationships/slide" Target="slides/slide40.xml"/><Relationship Id="rId53" Type="http://schemas.openxmlformats.org/officeDocument/2006/relationships/slide" Target="slides/slide39.xml"/><Relationship Id="rId52" Type="http://schemas.openxmlformats.org/officeDocument/2006/relationships/slide" Target="slides/slide38.xml"/><Relationship Id="rId51" Type="http://schemas.openxmlformats.org/officeDocument/2006/relationships/slide" Target="slides/slide37.xml"/><Relationship Id="rId50" Type="http://schemas.openxmlformats.org/officeDocument/2006/relationships/slide" Target="slides/slide36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5.xml"/><Relationship Id="rId48" Type="http://schemas.openxmlformats.org/officeDocument/2006/relationships/notesMaster" Target="notesMasters/notesMaster1.xml"/><Relationship Id="rId47" Type="http://schemas.openxmlformats.org/officeDocument/2006/relationships/slide" Target="slides/slide34.xml"/><Relationship Id="rId46" Type="http://schemas.openxmlformats.org/officeDocument/2006/relationships/slide" Target="slides/slide33.xml"/><Relationship Id="rId45" Type="http://schemas.openxmlformats.org/officeDocument/2006/relationships/slide" Target="slides/slide32.xml"/><Relationship Id="rId44" Type="http://schemas.openxmlformats.org/officeDocument/2006/relationships/slide" Target="slides/slide31.xml"/><Relationship Id="rId43" Type="http://schemas.openxmlformats.org/officeDocument/2006/relationships/slide" Target="slides/slide30.xml"/><Relationship Id="rId42" Type="http://schemas.openxmlformats.org/officeDocument/2006/relationships/slide" Target="slides/slide29.xml"/><Relationship Id="rId41" Type="http://schemas.openxmlformats.org/officeDocument/2006/relationships/slide" Target="slides/slide28.xml"/><Relationship Id="rId40" Type="http://schemas.openxmlformats.org/officeDocument/2006/relationships/slide" Target="slides/slide27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6.xml"/><Relationship Id="rId38" Type="http://schemas.openxmlformats.org/officeDocument/2006/relationships/slide" Target="slides/slide25.xml"/><Relationship Id="rId37" Type="http://schemas.openxmlformats.org/officeDocument/2006/relationships/slide" Target="slides/slide24.xml"/><Relationship Id="rId36" Type="http://schemas.openxmlformats.org/officeDocument/2006/relationships/slide" Target="slides/slide23.xml"/><Relationship Id="rId35" Type="http://schemas.openxmlformats.org/officeDocument/2006/relationships/slide" Target="slides/slide22.xml"/><Relationship Id="rId34" Type="http://schemas.openxmlformats.org/officeDocument/2006/relationships/slide" Target="slides/slide21.xml"/><Relationship Id="rId33" Type="http://schemas.openxmlformats.org/officeDocument/2006/relationships/slide" Target="slides/slide20.xml"/><Relationship Id="rId32" Type="http://schemas.openxmlformats.org/officeDocument/2006/relationships/slide" Target="slides/slide19.xml"/><Relationship Id="rId31" Type="http://schemas.openxmlformats.org/officeDocument/2006/relationships/slide" Target="slides/slide18.xml"/><Relationship Id="rId30" Type="http://schemas.openxmlformats.org/officeDocument/2006/relationships/slide" Target="slides/slide1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6.xml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0" Type="http://schemas.openxmlformats.org/officeDocument/2006/relationships/slide" Target="slides/slide7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slide" Target="slides/slide5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注：不可变类型进行浅拷贝不会给拷贝的对象开辟新的内存空间，而只是拷贝了这个对象的引用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b="1" dirty="0">
                <a:solidFill>
                  <a:schemeClr val="accent1"/>
                </a:solidFill>
                <a:latin typeface="纤黑体" panose="02000000000000000000" charset="-122"/>
                <a:ea typeface="纤黑体" panose="02000000000000000000" charset="-122"/>
                <a:cs typeface="阿里巴巴普惠体" panose="00020600040101010101" pitchFamily="18" charset="-122"/>
              </a:rPr>
              <a:t>彩</a:t>
            </a:r>
            <a:r>
              <a:rPr lang="zh-CN" altLang="en-US" sz="3600" b="1" dirty="0">
                <a:solidFill>
                  <a:schemeClr val="accent3"/>
                </a:solidFill>
                <a:latin typeface="纤黑体" panose="02000000000000000000" charset="-122"/>
                <a:ea typeface="纤黑体" panose="02000000000000000000" charset="-122"/>
                <a:cs typeface="阿里巴巴普惠体" panose="00020600040101010101" pitchFamily="18" charset="-122"/>
              </a:rPr>
              <a:t>蛋</a:t>
            </a:r>
            <a:endParaRPr lang="zh-CN" altLang="en-US" sz="3600" b="1" dirty="0">
              <a:solidFill>
                <a:schemeClr val="accent3"/>
              </a:solidFill>
              <a:latin typeface="纤黑体" panose="02000000000000000000" charset="-122"/>
              <a:ea typeface="纤黑体" panose="02000000000000000000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扩展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13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9" Type="http://schemas.openxmlformats.org/officeDocument/2006/relationships/theme" Target="../theme/theme8.xml"/><Relationship Id="rId18" Type="http://schemas.openxmlformats.org/officeDocument/2006/relationships/image" Target="../media/image6.png"/><Relationship Id="rId17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9.xml"/><Relationship Id="rId19" Type="http://schemas.openxmlformats.org/officeDocument/2006/relationships/theme" Target="../theme/theme9.xml"/><Relationship Id="rId18" Type="http://schemas.openxmlformats.org/officeDocument/2006/relationships/image" Target="../media/image6.png"/><Relationship Id="rId17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" Type="http://schemas.openxmlformats.org/officeDocument/2006/relationships/slideLayout" Target="../slideLayouts/slideLayout48.xml"/></Relationships>
</file>

<file path=ppt/slideMasters/_rels/slideMaster10.xml.rels><?xml version="1.0" encoding="UTF-8" standalone="yes"?>
<Relationships xmlns="http://schemas.openxmlformats.org/package/2006/relationships"><Relationship Id="rId5" Type="http://schemas.openxmlformats.org/officeDocument/2006/relationships/theme" Target="../theme/theme10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/Relationships>
</file>

<file path=ppt/slideMasters/_rels/slideMaster1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1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4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8" name="矩形 17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4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8" name="矩形 17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4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8" name="矩形 17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1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3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4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5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6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880745" y="2849245"/>
            <a:ext cx="10541000" cy="1158875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72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6096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12192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8288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24384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44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python</a:t>
            </a:r>
            <a:r>
              <a:rPr sz="44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闭包装饰器</a:t>
            </a:r>
            <a:r>
              <a:rPr lang="zh-CN" sz="44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与深浅拷贝</a:t>
            </a:r>
            <a:endParaRPr lang="zh-CN" sz="4400" dirty="0" err="1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595005" y="220643"/>
            <a:ext cx="7539845" cy="6580207"/>
          </a:xfrm>
        </p:spPr>
        <p:txBody>
          <a:bodyPr/>
          <a:lstStyle/>
          <a:p>
            <a:r>
              <a:rPr kumimoji="1" lang="zh-CN" altLang="en-US" sz="1600" dirty="0">
                <a:solidFill>
                  <a:schemeClr val="tx1"/>
                </a:solidFill>
              </a:rPr>
              <a:t>闭包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kumimoji="1" lang="zh-CN" altLang="en-US" sz="1600" dirty="0">
                <a:solidFill>
                  <a:schemeClr val="tx1"/>
                </a:solidFill>
              </a:rPr>
              <a:t>             概念和作用、构成条件、</a:t>
            </a:r>
            <a:r>
              <a:rPr kumimoji="1" lang="en-GB" altLang="zh-CN" sz="1600" dirty="0">
                <a:solidFill>
                  <a:schemeClr val="tx1"/>
                </a:solidFill>
              </a:rPr>
              <a:t> nonlocal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r>
              <a:rPr kumimoji="1" lang="zh-CN" altLang="en-US" sz="1600" dirty="0">
                <a:solidFill>
                  <a:schemeClr val="tx1"/>
                </a:solidFill>
              </a:rPr>
              <a:t>装饰器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kumimoji="1" lang="zh-CN" altLang="en-US" sz="1600" dirty="0">
                <a:solidFill>
                  <a:schemeClr val="tx1"/>
                </a:solidFill>
              </a:rPr>
              <a:t>             概念和作用、构成条件、传统方式和语法糖方式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r>
              <a:rPr kumimoji="1" lang="zh-CN" altLang="en-US" sz="1600" dirty="0">
                <a:solidFill>
                  <a:schemeClr val="tx1"/>
                </a:solidFill>
              </a:rPr>
              <a:t>装饰器的使用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kumimoji="1" lang="zh-CN" altLang="en-US" sz="1600" dirty="0">
                <a:solidFill>
                  <a:schemeClr val="tx1"/>
                </a:solidFill>
              </a:rPr>
              <a:t>             有</a:t>
            </a:r>
            <a:r>
              <a:rPr kumimoji="1" lang="en-US" altLang="zh-CN" sz="1600" dirty="0">
                <a:solidFill>
                  <a:schemeClr val="tx1"/>
                </a:solidFill>
              </a:rPr>
              <a:t>(</a:t>
            </a:r>
            <a:r>
              <a:rPr kumimoji="1" lang="zh-CN" altLang="en-US" sz="1600" dirty="0">
                <a:solidFill>
                  <a:schemeClr val="tx1"/>
                </a:solidFill>
              </a:rPr>
              <a:t>无</a:t>
            </a:r>
            <a:r>
              <a:rPr kumimoji="1" lang="en-US" altLang="zh-CN" sz="1600" dirty="0">
                <a:solidFill>
                  <a:schemeClr val="tx1"/>
                </a:solidFill>
              </a:rPr>
              <a:t>)</a:t>
            </a:r>
            <a:r>
              <a:rPr kumimoji="1" lang="zh-CN" altLang="en-US" sz="1600" dirty="0">
                <a:solidFill>
                  <a:schemeClr val="tx1"/>
                </a:solidFill>
              </a:rPr>
              <a:t>参有</a:t>
            </a:r>
            <a:r>
              <a:rPr kumimoji="1" lang="en-US" altLang="zh-CN" sz="1600" dirty="0">
                <a:solidFill>
                  <a:schemeClr val="tx1"/>
                </a:solidFill>
              </a:rPr>
              <a:t>(</a:t>
            </a:r>
            <a:r>
              <a:rPr kumimoji="1" lang="zh-CN" altLang="en-US" sz="1600" dirty="0">
                <a:solidFill>
                  <a:schemeClr val="tx1"/>
                </a:solidFill>
              </a:rPr>
              <a:t>无</a:t>
            </a:r>
            <a:r>
              <a:rPr kumimoji="1" lang="en-US" altLang="zh-CN" sz="1600" dirty="0">
                <a:solidFill>
                  <a:schemeClr val="tx1"/>
                </a:solidFill>
              </a:rPr>
              <a:t>)</a:t>
            </a:r>
            <a:r>
              <a:rPr kumimoji="1" lang="zh-CN" altLang="en-US" sz="1600" dirty="0">
                <a:solidFill>
                  <a:schemeClr val="tx1"/>
                </a:solidFill>
              </a:rPr>
              <a:t>返回值的原函数装饰、不定长参数原函数装饰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r>
              <a:rPr kumimoji="1" lang="zh-CN" altLang="en-US" sz="1600" dirty="0">
                <a:solidFill>
                  <a:schemeClr val="tx1"/>
                </a:solidFill>
              </a:rPr>
              <a:t>多个装饰器的使用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kumimoji="1" lang="zh-CN" altLang="en-US" sz="1600" dirty="0">
                <a:solidFill>
                  <a:schemeClr val="tx1"/>
                </a:solidFill>
              </a:rPr>
              <a:t>             多个装饰器装饰一个原函数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r>
              <a:rPr kumimoji="1" lang="zh-CN" altLang="en-US" sz="1600" dirty="0">
                <a:solidFill>
                  <a:schemeClr val="tx1"/>
                </a:solidFill>
              </a:rPr>
              <a:t>带有参数装饰器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kumimoji="1" lang="zh-CN" altLang="en-US" sz="1600" dirty="0">
                <a:solidFill>
                  <a:schemeClr val="tx1"/>
                </a:solidFill>
              </a:rPr>
              <a:t>             一个装饰器装饰多个原函数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r>
              <a:rPr kumimoji="1" lang="zh-CN" altLang="en-US" sz="1600" dirty="0">
                <a:solidFill>
                  <a:schemeClr val="tx1"/>
                </a:solidFill>
              </a:rPr>
              <a:t>深浅拷贝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sz="1600" dirty="0">
                <a:solidFill>
                  <a:schemeClr val="tx1"/>
                </a:solidFill>
              </a:rPr>
              <a:t> 	    </a:t>
            </a:r>
            <a:r>
              <a:rPr kumimoji="1" lang="zh-CN" altLang="en-US" sz="1600" b="0" dirty="0">
                <a:ea typeface="Alibaba PuHuiTi R" pitchFamily="18" charset="-122"/>
              </a:rPr>
              <a:t>浅拷贝、深拷贝</a:t>
            </a:r>
            <a:endParaRPr kumimoji="1" lang="en-US" altLang="zh-CN" sz="1600" b="0" dirty="0">
              <a:ea typeface="Alibaba PuHuiTi R" pitchFamily="18" charset="-122"/>
            </a:endParaRPr>
          </a:p>
          <a:p>
            <a:pPr marL="0" indent="0">
              <a:buNone/>
            </a:pPr>
            <a:endParaRPr kumimoji="1" lang="en-US" altLang="zh-C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269879" y="1048446"/>
            <a:ext cx="5973761" cy="4256405"/>
          </a:xfrm>
        </p:spPr>
        <p:txBody>
          <a:bodyPr/>
          <a:lstStyle/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>
                <a:solidFill>
                  <a:srgbClr val="C00000"/>
                </a:solidFill>
              </a:rPr>
              <a:t>闭包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kumimoji="1" lang="zh-CN" altLang="en-US" dirty="0">
                <a:solidFill>
                  <a:srgbClr val="C00000"/>
                </a:solidFill>
              </a:rPr>
              <a:t>           </a:t>
            </a:r>
            <a:r>
              <a:rPr kumimoji="1" lang="zh-CN" altLang="en-US" sz="1600" dirty="0">
                <a:solidFill>
                  <a:srgbClr val="C00000"/>
                </a:solidFill>
              </a:rPr>
              <a:t>概念和作用、构成条件、</a:t>
            </a:r>
            <a:r>
              <a:rPr kumimoji="1" lang="en-GB" altLang="zh-CN" sz="1600" dirty="0">
                <a:solidFill>
                  <a:srgbClr val="C00000"/>
                </a:solidFill>
              </a:rPr>
              <a:t> nonlocal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多个装饰器的使用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带有参数装饰器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深浅拷贝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45267" y="1586703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125" y="1577340"/>
            <a:ext cx="6298565" cy="2499995"/>
          </a:xfrm>
        </p:spPr>
        <p:txBody>
          <a:bodyPr/>
          <a:lstStyle/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知道闭包的构成条件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</a:rPr>
              <a:t>知道定义闭包的语法格式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</a:rPr>
              <a:t>能够编写闭包的代码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闭包的作用</a:t>
            </a:r>
          </a:p>
        </p:txBody>
      </p:sp>
      <p:sp>
        <p:nvSpPr>
          <p:cNvPr id="5" name="椭圆 4"/>
          <p:cNvSpPr/>
          <p:nvPr/>
        </p:nvSpPr>
        <p:spPr>
          <a:xfrm>
            <a:off x="1176020" y="2948940"/>
            <a:ext cx="1125855" cy="617855"/>
          </a:xfrm>
          <a:prstGeom prst="ellipse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疑问</a:t>
            </a:r>
            <a:endParaRPr lang="zh-CN" altLang="en-US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78710" y="2527935"/>
            <a:ext cx="82931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在之前的学习中，我们会发现：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当调用完函数后，函数内定义的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变量就销毁了</a:t>
            </a: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，但有时需要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保存函数内的这个变量</a:t>
            </a: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，并在这个变量的基础上完成一系列的操作</a:t>
            </a:r>
            <a:endParaRPr lang="en-US" altLang="zh-CN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比如: 每次在这个变量的基础上和其它数字进行求和计算，</a:t>
            </a:r>
            <a:r>
              <a:rPr lang="zh-CN" altLang="en-US" sz="1600" b="1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那怎么办呢?</a:t>
            </a:r>
            <a:endParaRPr lang="zh-CN" altLang="en-US" sz="1600" b="1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409976" y="4362642"/>
            <a:ext cx="1736668" cy="41138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闭包</a:t>
            </a:r>
            <a:endParaRPr lang="zh-CN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闭包的作用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10880" y="1686851"/>
            <a:ext cx="7615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闭包可以保存函数内的变量，</a:t>
            </a:r>
            <a:r>
              <a:rPr lang="zh-CN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而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不会随着调用完函数而</a:t>
            </a:r>
            <a:r>
              <a:rPr lang="zh-CN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被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销毁</a:t>
            </a:r>
            <a:r>
              <a:rPr lang="zh-CN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。</a:t>
            </a:r>
            <a:endParaRPr lang="zh-CN" sz="1600" b="1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75265" y="2438401"/>
            <a:ext cx="7835265" cy="33718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定义一个函数用于保存变量10，然后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调用函数返回值变量并</a:t>
            </a:r>
            <a:r>
              <a:rPr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重复累加数值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，观察效果。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10880" y="2376806"/>
            <a:ext cx="1896110" cy="49149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zh-CN" altLang="en-US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2483078" y="2868296"/>
            <a:ext cx="6244590" cy="35394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</a:rPr>
              <a:t># 1 </a:t>
            </a:r>
            <a:r>
              <a:rPr lang="zh-CN" altLang="en-US" sz="1600" i="1" dirty="0">
                <a:solidFill>
                  <a:srgbClr val="8C8C8C"/>
                </a:solidFill>
              </a:rPr>
              <a:t>定义一个函数 返回函数运行结果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en-US" altLang="zh-CN" sz="1600" i="1" dirty="0">
                <a:solidFill>
                  <a:srgbClr val="8C8C8C"/>
                </a:solidFill>
              </a:rPr>
              <a:t># 2 </a:t>
            </a:r>
            <a:r>
              <a:rPr lang="zh-CN" altLang="en-US" sz="1600" i="1" dirty="0">
                <a:solidFill>
                  <a:srgbClr val="8C8C8C"/>
                </a:solidFill>
              </a:rPr>
              <a:t>想在函数内部累加 </a:t>
            </a:r>
            <a:r>
              <a:rPr lang="en-GB" altLang="zh-CN" sz="1600" i="1" dirty="0">
                <a:solidFill>
                  <a:srgbClr val="8C8C8C"/>
                </a:solidFill>
              </a:rPr>
              <a:t>number+1+2, </a:t>
            </a:r>
            <a:r>
              <a:rPr lang="zh-CN" altLang="en-US" sz="1600" i="1" dirty="0">
                <a:solidFill>
                  <a:srgbClr val="8C8C8C"/>
                </a:solidFill>
              </a:rPr>
              <a:t>但做不到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en-US" altLang="zh-CN" sz="1600" i="1" dirty="0">
                <a:solidFill>
                  <a:srgbClr val="8C8C8C"/>
                </a:solidFill>
              </a:rPr>
              <a:t># 1 </a:t>
            </a:r>
            <a:r>
              <a:rPr lang="zh-CN" altLang="en-US" sz="1600" i="1" dirty="0">
                <a:solidFill>
                  <a:srgbClr val="8C8C8C"/>
                </a:solidFill>
              </a:rPr>
              <a:t>定义一个函数 返回函数运行结果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en-GB" altLang="zh-CN" sz="1600" dirty="0">
                <a:solidFill>
                  <a:srgbClr val="0033B3"/>
                </a:solidFill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</a:rPr>
              <a:t>myfun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number = </a:t>
            </a:r>
            <a:r>
              <a:rPr lang="en-GB" altLang="zh-CN" sz="1600" dirty="0">
                <a:solidFill>
                  <a:srgbClr val="1750EB"/>
                </a:solidFill>
              </a:rPr>
              <a:t>10</a:t>
            </a:r>
            <a:br>
              <a:rPr lang="en-GB" altLang="zh-CN" sz="1600" dirty="0">
                <a:solidFill>
                  <a:srgbClr val="1750EB"/>
                </a:solidFill>
              </a:rPr>
            </a:br>
            <a:r>
              <a:rPr lang="en-GB" altLang="zh-CN" sz="1600" dirty="0">
                <a:solidFill>
                  <a:srgbClr val="1750EB"/>
                </a:solidFill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</a:rPr>
              <a:t>return </a:t>
            </a:r>
            <a:r>
              <a:rPr lang="en-GB" altLang="zh-CN" sz="1600" dirty="0"/>
              <a:t>number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</a:rPr>
              <a:t># 2 </a:t>
            </a:r>
            <a:r>
              <a:rPr lang="zh-CN" altLang="en-US" sz="1600" i="1" dirty="0">
                <a:solidFill>
                  <a:srgbClr val="8C8C8C"/>
                </a:solidFill>
              </a:rPr>
              <a:t>想在函数内部累加 </a:t>
            </a:r>
            <a:r>
              <a:rPr lang="en-GB" altLang="zh-CN" sz="1600" i="1" dirty="0">
                <a:solidFill>
                  <a:srgbClr val="8C8C8C"/>
                </a:solidFill>
              </a:rPr>
              <a:t>number+1+2, </a:t>
            </a:r>
            <a:r>
              <a:rPr lang="zh-CN" altLang="en-US" sz="1600" i="1" dirty="0">
                <a:solidFill>
                  <a:srgbClr val="8C8C8C"/>
                </a:solidFill>
              </a:rPr>
              <a:t>但做不到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en-GB" altLang="zh-CN" sz="1600" dirty="0"/>
              <a:t>number = </a:t>
            </a:r>
            <a:r>
              <a:rPr lang="en-GB" altLang="zh-CN" sz="1600" dirty="0" err="1"/>
              <a:t>myfun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0080"/>
                </a:solidFill>
              </a:rPr>
              <a:t>print</a:t>
            </a:r>
            <a:r>
              <a:rPr lang="en-GB" altLang="zh-CN" sz="1600" dirty="0"/>
              <a:t>(number)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0080"/>
                </a:solidFill>
              </a:rPr>
              <a:t>print</a:t>
            </a:r>
            <a:r>
              <a:rPr lang="en-GB" altLang="zh-CN" sz="1600" dirty="0"/>
              <a:t>(number+</a:t>
            </a:r>
            <a:r>
              <a:rPr lang="en-GB" altLang="zh-CN" sz="1600" dirty="0">
                <a:solidFill>
                  <a:srgbClr val="1750EB"/>
                </a:solidFill>
              </a:rPr>
              <a:t>1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0080"/>
                </a:solidFill>
              </a:rPr>
              <a:t>print</a:t>
            </a:r>
            <a:r>
              <a:rPr lang="en-GB" altLang="zh-CN" sz="1600" dirty="0"/>
              <a:t>(number+</a:t>
            </a:r>
            <a:r>
              <a:rPr lang="en-GB" altLang="zh-CN" sz="1600" dirty="0">
                <a:solidFill>
                  <a:srgbClr val="1750EB"/>
                </a:solidFill>
              </a:rPr>
              <a:t>2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0080"/>
                </a:solidFill>
              </a:rPr>
              <a:t>print</a:t>
            </a:r>
            <a:r>
              <a:rPr lang="en-GB" altLang="zh-CN" sz="1600" dirty="0"/>
              <a:t>(number+</a:t>
            </a:r>
            <a:r>
              <a:rPr lang="en-GB" altLang="zh-CN" sz="1600" dirty="0">
                <a:solidFill>
                  <a:srgbClr val="1750EB"/>
                </a:solidFill>
              </a:rPr>
              <a:t>3</a:t>
            </a:r>
            <a:r>
              <a:rPr lang="en-GB" altLang="zh-CN" sz="1600" dirty="0"/>
              <a:t>)</a:t>
            </a:r>
            <a:endParaRPr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闭包的语法</a:t>
            </a:r>
            <a:endParaRPr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45807" y="1675183"/>
            <a:ext cx="10700385" cy="884555"/>
          </a:xfrm>
        </p:spPr>
        <p:txBody>
          <a:bodyPr/>
          <a:lstStyle/>
          <a:p>
            <a:r>
              <a:rPr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在函数嵌套的前提下，内部函数使用了外部函数的变量，并且外部函数返回了内部函数</a:t>
            </a:r>
            <a:r>
              <a:rPr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endParaRPr lang="en-US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这种：</a:t>
            </a:r>
            <a:r>
              <a:rPr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使用外部函数变量</a:t>
            </a:r>
            <a:r>
              <a:rPr dirty="0" err="1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内部函数</a:t>
            </a:r>
            <a:r>
              <a:rPr dirty="0" err="1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称为闭包</a:t>
            </a:r>
            <a:r>
              <a:rPr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zh-CN" altLang="en-US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TextBox 3"/>
          <p:cNvSpPr txBox="1"/>
          <p:nvPr/>
        </p:nvSpPr>
        <p:spPr>
          <a:xfrm>
            <a:off x="2973704" y="2729813"/>
            <a:ext cx="6244590" cy="156845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# 外部函数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def 外部函数名(外部参数):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# 内部函数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def 内部函数名(内部参数):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    ...[</a:t>
            </a:r>
            <a:r>
              <a:rPr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使用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外部函数的变量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]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return 内部函数名      </a:t>
            </a:r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# 闭包</a:t>
            </a:r>
            <a:endParaRPr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闭包</a:t>
            </a:r>
            <a:r>
              <a:rPr lang="zh-CN" altLang="en-US" dirty="0"/>
              <a:t>的构成条件</a:t>
            </a:r>
            <a:endParaRPr dirty="0"/>
          </a:p>
        </p:txBody>
      </p:sp>
      <p:sp>
        <p:nvSpPr>
          <p:cNvPr id="22" name="三角形 9"/>
          <p:cNvSpPr/>
          <p:nvPr/>
        </p:nvSpPr>
        <p:spPr>
          <a:xfrm rot="2651319">
            <a:off x="851566" y="298484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TextBox 6"/>
          <p:cNvSpPr txBox="1"/>
          <p:nvPr/>
        </p:nvSpPr>
        <p:spPr>
          <a:xfrm>
            <a:off x="1841500" y="3030855"/>
            <a:ext cx="646049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①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有嵌套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</a:t>
            </a:r>
            <a:r>
              <a:rPr sz="1600" dirty="0">
                <a:solidFill>
                  <a:srgbClr val="262626"/>
                </a:solidFill>
                <a:latin typeface="+mn-lt"/>
                <a:ea typeface="Alibaba PuHuiTi R" pitchFamily="18" charset="-122"/>
                <a:sym typeface="+mn-ea"/>
              </a:rPr>
              <a:t>在函数嵌套(函数里面再定义函数)的前提下；</a:t>
            </a:r>
            <a:endParaRPr lang="zh-CN" altLang="en-US" sz="16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②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有引用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</a:t>
            </a:r>
            <a:r>
              <a:rPr sz="1600" dirty="0">
                <a:solidFill>
                  <a:srgbClr val="262626"/>
                </a:solidFill>
                <a:latin typeface="+mn-lt"/>
                <a:ea typeface="Alibaba PuHuiTi R" pitchFamily="18" charset="-122"/>
                <a:sym typeface="+mn-ea"/>
              </a:rPr>
              <a:t>内部函数使用了外部函数的变量(还包括外部函数的参数)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；</a:t>
            </a:r>
            <a:endParaRPr lang="zh-CN" altLang="en-US" sz="16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③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有返回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</a:t>
            </a:r>
            <a:r>
              <a:rPr sz="1600" dirty="0">
                <a:solidFill>
                  <a:srgbClr val="262626"/>
                </a:solidFill>
                <a:latin typeface="+mn-lt"/>
                <a:ea typeface="Alibaba PuHuiTi R" pitchFamily="18" charset="-122"/>
                <a:sym typeface="+mn-ea"/>
              </a:rPr>
              <a:t>外部函数返回了内部函数</a:t>
            </a:r>
            <a:r>
              <a:rPr lang="zh-CN" sz="1600" dirty="0">
                <a:solidFill>
                  <a:srgbClr val="262626"/>
                </a:solidFill>
                <a:latin typeface="+mn-lt"/>
                <a:ea typeface="Alibaba PuHuiTi R" pitchFamily="18" charset="-122"/>
                <a:sym typeface="+mn-ea"/>
              </a:rPr>
              <a:t>名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。</a:t>
            </a:r>
            <a:endParaRPr lang="zh-CN" altLang="en-US" sz="16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44880" y="2628265"/>
            <a:ext cx="10302240" cy="1601470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45185" y="2700655"/>
            <a:ext cx="1493520" cy="30099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闭包的构成条件</a:t>
            </a:r>
            <a:endParaRPr kumimoji="1" lang="en-US" altLang="zh-CN" sz="1400" b="1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768080" y="3061335"/>
            <a:ext cx="1788795" cy="735965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三个条件</a:t>
            </a:r>
            <a:endParaRPr lang="zh-CN" altLang="en-US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使用闭包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733355" y="1515542"/>
            <a:ext cx="8884904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定义一个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用于求和的闭包。</a:t>
            </a:r>
            <a:endParaRPr lang="zh-CN" sz="1600" dirty="0">
              <a:solidFill>
                <a:srgbClr val="262626"/>
              </a:solidFill>
              <a:ea typeface="Alibaba PuHuiTi R" pitchFamily="18" charset="-122"/>
              <a:sym typeface="+mn-ea"/>
            </a:endParaRPr>
          </a:p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其中，外部函数有参数</a:t>
            </a:r>
            <a:r>
              <a:rPr lang="en-US" altLang="zh-CN"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num1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，内部函数有参数</a:t>
            </a:r>
            <a:r>
              <a:rPr lang="en-US" altLang="zh-CN"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num2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，然后调用，并用于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求解两数之和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，</a:t>
            </a:r>
            <a:r>
              <a:rPr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观察效果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10880" y="1561897"/>
            <a:ext cx="1896110" cy="49149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zh-CN" altLang="en-US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658935" y="2226538"/>
            <a:ext cx="6244590" cy="378565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闭包的构成条件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:</a:t>
            </a:r>
            <a:br>
              <a:rPr lang="en-US" altLang="zh-CN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1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在函数嵌套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(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函数里面再定义函数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)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的前提下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func_out</a:t>
            </a:r>
            <a:r>
              <a:rPr lang="en-GB" altLang="zh-CN" sz="1600" dirty="0"/>
              <a:t>(num1):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func_inner</a:t>
            </a:r>
            <a:r>
              <a:rPr lang="en-GB" altLang="zh-CN" sz="1600" dirty="0"/>
              <a:t>(num2):</a:t>
            </a: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2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内部函数使用了外部函数的变量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(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还包括外部函数的参数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)</a:t>
            </a:r>
            <a:br>
              <a:rPr lang="en-US" altLang="zh-CN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/>
              <a:t>num = num1 + num2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现在的值：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US" altLang="zh-CN" sz="1600" dirty="0"/>
              <a:t>, </a:t>
            </a:r>
            <a:r>
              <a:rPr lang="en-GB" altLang="zh-CN" sz="1600" dirty="0"/>
              <a:t>num)</a:t>
            </a: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3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外部函数返回了内部函数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 err="1"/>
              <a:t>func_inner</a:t>
            </a:r>
            <a:br>
              <a:rPr lang="en-GB" altLang="zh-CN" sz="1600" dirty="0"/>
            </a:b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创建闭包实例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/>
              <a:t>f = </a:t>
            </a:r>
            <a:r>
              <a:rPr lang="en-GB" altLang="zh-CN" sz="1600" dirty="0" err="1"/>
              <a:t>func_out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10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执行闭包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/>
              <a:t>f(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</a:t>
            </a:r>
            <a:r>
              <a:rPr lang="en-GB" altLang="zh-CN" sz="1600" dirty="0"/>
              <a:t>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91154" y="5134001"/>
            <a:ext cx="2637526" cy="878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Helvetica Neue" panose="02000503000000020004" pitchFamily="2" charset="0"/>
              </a:rPr>
              <a:t>思考</a:t>
            </a:r>
            <a:r>
              <a:rPr lang="zh-CN" alt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：闭包的代码的执行流程是什么样的？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nonlocal关键字</a:t>
            </a:r>
          </a:p>
        </p:txBody>
      </p:sp>
      <p:sp>
        <p:nvSpPr>
          <p:cNvPr id="21" name="TextBox 3"/>
          <p:cNvSpPr txBox="1"/>
          <p:nvPr/>
        </p:nvSpPr>
        <p:spPr>
          <a:xfrm>
            <a:off x="879475" y="1505110"/>
            <a:ext cx="6244590" cy="58356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global: 声明全局变量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nonlocal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声明能够让内部函数去修改外部函数的变量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43860" y="2477247"/>
            <a:ext cx="7835265" cy="33718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编写一个闭包，让内部函数去访问外部函数内的参数</a:t>
            </a: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 = 100</a:t>
            </a: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，观察效果。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79475" y="2415652"/>
            <a:ext cx="1896110" cy="49149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zh-CN" altLang="en-US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2224181" y="3108651"/>
            <a:ext cx="6244590" cy="329320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func_out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a =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100</a:t>
            </a:r>
            <a:br>
              <a:rPr lang="en-GB" altLang="zh-CN" sz="1600" dirty="0">
                <a:solidFill>
                  <a:srgbClr val="1750EB"/>
                </a:solidFill>
                <a:effectLst/>
              </a:rPr>
            </a:br>
            <a:r>
              <a:rPr lang="en-GB" altLang="zh-CN" sz="1600" dirty="0">
                <a:solidFill>
                  <a:srgbClr val="1750EB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func_inner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声明变量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nonlocal </a:t>
            </a:r>
            <a:r>
              <a:rPr lang="en-GB" altLang="zh-CN" sz="1600" dirty="0"/>
              <a:t>a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注意要声明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/>
              <a:t>a = a +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修改值   有引用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修改的结果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: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/>
              <a:t>a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 err="1"/>
              <a:t>func_inner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观察结果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/>
              <a:t>number = </a:t>
            </a:r>
            <a:r>
              <a:rPr lang="en-GB" altLang="zh-CN" sz="1600" dirty="0" err="1"/>
              <a:t>func_out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number()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255925" y="1829297"/>
            <a:ext cx="7742555" cy="4250055"/>
          </a:xfrm>
        </p:spPr>
        <p:txBody>
          <a:bodyPr/>
          <a:lstStyle/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262626"/>
                </a:solidFill>
                <a:latin typeface="+mn-lt"/>
                <a:ea typeface="Alibaba PuHuiTi R" pitchFamily="18" charset="-122"/>
                <a:cs typeface="+mn-cs"/>
              </a:rPr>
              <a:t>1.</a:t>
            </a:r>
            <a:r>
              <a:rPr lang="zh-CN" altLang="en-US" dirty="0">
                <a:solidFill>
                  <a:srgbClr val="262626"/>
                </a:solidFill>
                <a:latin typeface="+mn-lt"/>
                <a:ea typeface="Alibaba PuHuiTi R" pitchFamily="18" charset="-122"/>
                <a:cs typeface="+mn-cs"/>
              </a:rPr>
              <a:t>闭包的作用 ？</a:t>
            </a:r>
            <a:endParaRPr lang="en-US" altLang="zh-CN" dirty="0">
              <a:solidFill>
                <a:srgbClr val="262626"/>
              </a:solidFill>
              <a:latin typeface="+mn-lt"/>
              <a:ea typeface="Alibaba PuHuiTi R" pitchFamily="18" charset="-122"/>
              <a:cs typeface="+mn-cs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           </a:t>
            </a:r>
            <a:r>
              <a:rPr lang="zh-CN" altLang="en-US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保存函数中的变量（外部函数中的变量）</a:t>
            </a:r>
            <a:endParaRPr lang="en-US" altLang="zh-CN" sz="1600" dirty="0">
              <a:solidFill>
                <a:srgbClr val="262626"/>
              </a:solidFill>
              <a:latin typeface="+mn-lt"/>
              <a:ea typeface="Alibaba PuHuiTi R" pitchFamily="18" charset="-122"/>
              <a:cs typeface="+mn-cs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闭包的语法格式？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dirty="0">
              <a:solidFill>
                <a:srgbClr val="262626"/>
              </a:solidFill>
              <a:latin typeface="+mn-lt"/>
              <a:ea typeface="Alibaba PuHuiTi R" pitchFamily="18" charset="-122"/>
              <a:cs typeface="+mn-cs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构成闭包的条件？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有嵌套，有引用，有返回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262626"/>
                </a:solidFill>
                <a:ea typeface="Alibaba PuHuiTi R" pitchFamily="18" charset="-122"/>
              </a:rPr>
              <a:t>4.nonlocal</a:t>
            </a:r>
            <a:r>
              <a:rPr lang="zh-CN" altLang="en-US" dirty="0">
                <a:solidFill>
                  <a:srgbClr val="262626"/>
                </a:solidFill>
                <a:ea typeface="Alibaba PuHuiTi R" pitchFamily="18" charset="-122"/>
              </a:rPr>
              <a:t>关键字的作用？</a:t>
            </a:r>
            <a:endParaRPr lang="en-US" altLang="zh-CN" dirty="0">
              <a:solidFill>
                <a:srgbClr val="262626"/>
              </a:solidFill>
              <a:ea typeface="Alibaba PuHuiTi R" pitchFamily="18" charset="-122"/>
            </a:endParaRP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        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声明能够让内部函数去修改外部函数的变量</a:t>
            </a:r>
            <a:endParaRPr lang="zh-CN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4907" y="2314156"/>
            <a:ext cx="6244590" cy="156845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# 外部函数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def 外部函数名(外部参数):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# 内部函数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def 内部函数名(内部参数):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    ...[</a:t>
            </a:r>
            <a:r>
              <a:rPr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使用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外部函数的变量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]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return 内部函数名      </a:t>
            </a:r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# 闭包</a:t>
            </a:r>
            <a:endParaRPr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62793" y="1693228"/>
            <a:ext cx="5973761" cy="4256405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闭包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rgbClr val="C00000"/>
                </a:solidFill>
              </a:rPr>
              <a:t>装饰器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kumimoji="1" lang="zh-CN" altLang="en-US" dirty="0">
                <a:solidFill>
                  <a:srgbClr val="C00000"/>
                </a:solidFill>
              </a:rPr>
              <a:t>           </a:t>
            </a:r>
            <a:r>
              <a:rPr kumimoji="1" lang="zh-CN" altLang="en-US" sz="1600" dirty="0">
                <a:solidFill>
                  <a:srgbClr val="C00000"/>
                </a:solidFill>
              </a:rPr>
              <a:t>作用、构成条件、传统方式和语法糖方式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多个装饰器的使用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带有参数装饰器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lang="zh-CN" altLang="en-US" dirty="0"/>
              <a:t>深浅拷贝</a:t>
            </a:r>
            <a:endParaRPr lang="zh-CN" altLang="en-US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2381" y="2476407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125" y="1577340"/>
            <a:ext cx="6298565" cy="2499995"/>
          </a:xfrm>
        </p:spPr>
        <p:txBody>
          <a:bodyPr/>
          <a:lstStyle/>
          <a:p>
            <a:pPr marL="342900" indent="-342900">
              <a:buFont typeface="+mj-lt"/>
            </a:pP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能够说出装饰器的作用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</a:rPr>
              <a:t>知道装饰器的构成条件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</a:rPr>
              <a:t>知道装饰器语法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160145" y="1638935"/>
            <a:ext cx="8816975" cy="795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 err="1">
                <a:solidFill>
                  <a:srgbClr val="262626"/>
                </a:solidFill>
                <a:ea typeface="Alibaba PuHuiTi R" pitchFamily="18" charset="-122"/>
              </a:rPr>
              <a:t>装饰器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的作用是</a:t>
            </a:r>
            <a:r>
              <a:rPr sz="1600" b="1" dirty="0" err="1">
                <a:solidFill>
                  <a:srgbClr val="C00000"/>
                </a:solidFill>
                <a:ea typeface="Alibaba PuHuiTi R" pitchFamily="18" charset="-122"/>
              </a:rPr>
              <a:t>不改变原有函数的基础上，给</a:t>
            </a:r>
            <a:r>
              <a:rPr lang="zh-CN" sz="1600" b="1" dirty="0">
                <a:solidFill>
                  <a:srgbClr val="C00000"/>
                </a:solidFill>
                <a:ea typeface="Alibaba PuHuiTi R" pitchFamily="18" charset="-122"/>
              </a:rPr>
              <a:t>原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</a:rPr>
              <a:t>有函数增加额外功能</a:t>
            </a:r>
            <a:r>
              <a:rPr lang="zh-CN" sz="1600" b="1" dirty="0">
                <a:solidFill>
                  <a:srgbClr val="C00000"/>
                </a:solidFill>
                <a:ea typeface="Alibaba PuHuiTi R" pitchFamily="18" charset="-122"/>
              </a:rPr>
              <a:t>。</a:t>
            </a:r>
            <a:endParaRPr lang="zh-CN" sz="1600" b="1" dirty="0">
              <a:solidFill>
                <a:srgbClr val="C00000"/>
              </a:solidFill>
              <a:ea typeface="Alibaba PuHuiTi R" pitchFamily="18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C00000"/>
                </a:solidFill>
                <a:ea typeface="Alibaba PuHuiTi R" pitchFamily="18" charset="-122"/>
              </a:rPr>
              <a:t>装饰器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</a:rPr>
              <a:t>本质上就是一个闭包函数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</a:rPr>
              <a:t>。</a:t>
            </a:r>
            <a:endParaRPr sz="1600" dirty="0">
              <a:solidFill>
                <a:srgbClr val="262626"/>
              </a:solidFill>
              <a:ea typeface="Alibaba PuHuiTi R" pitchFamily="18" charset="-122"/>
            </a:endParaRPr>
          </a:p>
        </p:txBody>
      </p:sp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装饰器</a:t>
            </a:r>
            <a:endParaRPr dirty="0"/>
          </a:p>
        </p:txBody>
      </p:sp>
      <p:sp>
        <p:nvSpPr>
          <p:cNvPr id="22" name="三角形 9"/>
          <p:cNvSpPr/>
          <p:nvPr/>
        </p:nvSpPr>
        <p:spPr>
          <a:xfrm rot="2651319">
            <a:off x="851566" y="378558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TextBox 6"/>
          <p:cNvSpPr txBox="1"/>
          <p:nvPr/>
        </p:nvSpPr>
        <p:spPr>
          <a:xfrm>
            <a:off x="1841500" y="3831590"/>
            <a:ext cx="646049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①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有嵌套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</a:t>
            </a:r>
            <a:r>
              <a:rPr sz="1600" dirty="0">
                <a:solidFill>
                  <a:srgbClr val="262626"/>
                </a:solidFill>
                <a:latin typeface="+mn-lt"/>
                <a:ea typeface="Alibaba PuHuiTi R" pitchFamily="18" charset="-122"/>
                <a:sym typeface="+mn-ea"/>
              </a:rPr>
              <a:t>在函数嵌套(函数里面再定义函数)的前提下；</a:t>
            </a:r>
            <a:endParaRPr lang="zh-CN" altLang="en-US" sz="16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②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有引用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</a:t>
            </a:r>
            <a:r>
              <a:rPr sz="1600" dirty="0">
                <a:solidFill>
                  <a:srgbClr val="262626"/>
                </a:solidFill>
                <a:latin typeface="+mn-lt"/>
                <a:ea typeface="Alibaba PuHuiTi R" pitchFamily="18" charset="-122"/>
                <a:sym typeface="+mn-ea"/>
              </a:rPr>
              <a:t>内部函数使用了外部函数的变量(还包括外部函数的参数)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；</a:t>
            </a:r>
            <a:endParaRPr lang="zh-CN" altLang="en-US" sz="16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③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有返回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</a:t>
            </a:r>
            <a:r>
              <a:rPr sz="1600" dirty="0">
                <a:solidFill>
                  <a:srgbClr val="262626"/>
                </a:solidFill>
                <a:latin typeface="+mn-lt"/>
                <a:ea typeface="Alibaba PuHuiTi R" pitchFamily="18" charset="-122"/>
                <a:sym typeface="+mn-ea"/>
              </a:rPr>
              <a:t>外部函数返回了内部函数</a:t>
            </a:r>
            <a:r>
              <a:rPr lang="zh-CN" sz="1600" dirty="0">
                <a:solidFill>
                  <a:srgbClr val="262626"/>
                </a:solidFill>
                <a:latin typeface="+mn-lt"/>
                <a:ea typeface="Alibaba PuHuiTi R" pitchFamily="18" charset="-122"/>
                <a:sym typeface="+mn-ea"/>
              </a:rPr>
              <a:t>名；</a:t>
            </a:r>
            <a:endParaRPr lang="zh-CN" sz="1600" dirty="0">
              <a:solidFill>
                <a:srgbClr val="262626"/>
              </a:solidFill>
              <a:latin typeface="+mn-lt"/>
              <a:ea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④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有额外功能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给需要装饰的原有函数增加额外功能</a:t>
            </a:r>
            <a:r>
              <a:rPr lang="zh-CN" altLang="en-US" sz="16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。</a:t>
            </a:r>
            <a:endParaRPr lang="zh-CN" altLang="en-US" sz="16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44880" y="3429000"/>
            <a:ext cx="10302240" cy="1971040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45185" y="3501390"/>
            <a:ext cx="1688465" cy="30099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装饰器的构成条件</a:t>
            </a:r>
            <a:endParaRPr kumimoji="1" lang="en-US" altLang="zh-CN" sz="1400" b="1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768080" y="4046855"/>
            <a:ext cx="1788795" cy="735965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四个条件</a:t>
            </a:r>
            <a:endParaRPr lang="zh-CN" altLang="en-US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装饰器</a:t>
            </a:r>
            <a:r>
              <a:rPr lang="zh-CN" altLang="en-US" dirty="0"/>
              <a:t>语法</a:t>
            </a:r>
            <a:endParaRPr dirty="0"/>
          </a:p>
        </p:txBody>
      </p:sp>
      <p:sp>
        <p:nvSpPr>
          <p:cNvPr id="6" name="文本框 5"/>
          <p:cNvSpPr txBox="1"/>
          <p:nvPr/>
        </p:nvSpPr>
        <p:spPr>
          <a:xfrm>
            <a:off x="2758755" y="2267771"/>
            <a:ext cx="8300720" cy="5835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例如，发表评论前，都是需要先登录的。</a:t>
            </a:r>
            <a:endParaRPr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先定义有发表评论的功能函数，然后在</a:t>
            </a:r>
            <a:r>
              <a:rPr lang="zh-CN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不改变原有函数的基础上</a:t>
            </a:r>
            <a:r>
              <a:rPr lang="zh-CN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，需要提示用户要先登录。</a:t>
            </a:r>
            <a:endParaRPr lang="zh-CN" sz="16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10880" y="2313491"/>
            <a:ext cx="1896110" cy="49149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zh-CN" altLang="en-US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879475" y="1457271"/>
            <a:ext cx="7922260" cy="58477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方式1: </a:t>
            </a:r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传统方式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 </a:t>
            </a:r>
            <a:r>
              <a:rPr 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变量名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= 装饰器名(原有函数</a:t>
            </a:r>
            <a:r>
              <a:rPr 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名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		   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变量名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）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2883640" y="2923129"/>
            <a:ext cx="4306300" cy="378565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1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定义一个装饰器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(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装饰器的本质是闭包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)</a:t>
            </a:r>
            <a:br>
              <a:rPr lang="en-US" altLang="zh-CN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check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登陆验证。。。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2.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需要被装饰的函数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comment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发表评论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br>
              <a:rPr lang="en-US" altLang="zh-CN" sz="1600" dirty="0"/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3.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使用装饰器装饰函数（增加一个登陆功能）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/>
              <a:t>comment = check(comment)</a:t>
            </a:r>
            <a:br>
              <a:rPr lang="en-GB" altLang="zh-CN" sz="1600" dirty="0"/>
            </a:br>
            <a:r>
              <a:rPr lang="en-GB" altLang="zh-CN" sz="1600" dirty="0"/>
              <a:t>comment()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装饰器</a:t>
            </a:r>
            <a:r>
              <a:rPr lang="zh-CN" altLang="en-US" dirty="0"/>
              <a:t>语法</a:t>
            </a:r>
            <a:endParaRPr dirty="0"/>
          </a:p>
        </p:txBody>
      </p:sp>
      <p:sp>
        <p:nvSpPr>
          <p:cNvPr id="6" name="文本框 5"/>
          <p:cNvSpPr txBox="1"/>
          <p:nvPr/>
        </p:nvSpPr>
        <p:spPr>
          <a:xfrm>
            <a:off x="2758755" y="2267771"/>
            <a:ext cx="8300720" cy="5835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例如，发表评论前，都是需要先登录的。</a:t>
            </a:r>
            <a:endParaRPr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先定义有发表评论的功能函数，然后在</a:t>
            </a:r>
            <a:r>
              <a:rPr lang="zh-CN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不改变原有函数的基础上</a:t>
            </a:r>
            <a:r>
              <a:rPr lang="zh-CN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，需要提示用户要先登录。</a:t>
            </a:r>
            <a:endParaRPr lang="zh-CN" sz="16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10880" y="2313491"/>
            <a:ext cx="1896110" cy="49149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zh-CN" altLang="en-US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879475" y="1457271"/>
            <a:ext cx="7922260" cy="3385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方式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2: 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语法糖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@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装饰器名  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这种方式最常见也最常用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3084056" y="3096885"/>
            <a:ext cx="5020284" cy="35394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1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定义一个装饰器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(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装饰器的本质是闭包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)</a:t>
            </a:r>
            <a:br>
              <a:rPr lang="en-US" altLang="zh-CN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check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请先登陆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2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使用装饰器装饰函数（增加一个登陆功能）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解释器遇到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@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check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会立即执行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comment = check(comment)</a:t>
            </a:r>
            <a:br>
              <a:rPr lang="en-GB" altLang="zh-CN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9E880D"/>
                </a:solidFill>
                <a:effectLst/>
              </a:rPr>
              <a:t>@check</a:t>
            </a:r>
            <a:br>
              <a:rPr lang="en-GB" altLang="zh-CN" sz="1600" dirty="0">
                <a:solidFill>
                  <a:srgbClr val="9E880D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comment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发表评论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GB" altLang="zh-CN" sz="1600" dirty="0"/>
              <a:t>comment()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330065" y="1458595"/>
            <a:ext cx="7742555" cy="4250055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能够说出装饰器的作用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ym typeface="+mn-ea"/>
              </a:rPr>
              <a:t>        </a:t>
            </a:r>
            <a:r>
              <a:rPr lang="zh-CN" altLang="en-US" sz="1600" dirty="0">
                <a:sym typeface="+mn-ea"/>
              </a:rPr>
              <a:t>在不改变原有函数的基础上，给原有函数添加新功能</a:t>
            </a:r>
            <a:endParaRPr lang="zh-CN" altLang="en-US" sz="1600" dirty="0"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 知道装饰器的构成条件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</a:t>
            </a:r>
            <a:r>
              <a:rPr lang="zh-CN" altLang="en-US" sz="1600" dirty="0"/>
              <a:t>有嵌套，有引用，有返回，有额外功能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 知道装饰器语法糖的写法</a:t>
            </a:r>
            <a:endParaRPr lang="zh-CN" altLang="en-US" dirty="0"/>
          </a:p>
          <a:p>
            <a:pPr marL="0" indent="0"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18788" y="4983906"/>
            <a:ext cx="6260360" cy="83099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方式1: </a:t>
            </a:r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传统方式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 </a:t>
            </a:r>
            <a:r>
              <a:rPr 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变量名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= 装饰器名(原有函数</a:t>
            </a:r>
            <a:r>
              <a:rPr 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名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		   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变量名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）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方式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2: 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语法糖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@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装饰器名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37450" y="1186166"/>
            <a:ext cx="6851321" cy="4256405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闭包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rgbClr val="C00000"/>
                </a:solidFill>
              </a:rPr>
              <a:t>装饰器的使用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kumimoji="1" lang="zh-CN" altLang="en-US" dirty="0">
                <a:solidFill>
                  <a:srgbClr val="C00000"/>
                </a:solidFill>
              </a:rPr>
              <a:t>         有</a:t>
            </a:r>
            <a:r>
              <a:rPr kumimoji="1" lang="en-US" altLang="zh-CN" dirty="0">
                <a:solidFill>
                  <a:srgbClr val="C00000"/>
                </a:solidFill>
              </a:rPr>
              <a:t>(</a:t>
            </a:r>
            <a:r>
              <a:rPr kumimoji="1" lang="zh-CN" altLang="en-US" dirty="0">
                <a:solidFill>
                  <a:srgbClr val="C00000"/>
                </a:solidFill>
              </a:rPr>
              <a:t>无</a:t>
            </a:r>
            <a:r>
              <a:rPr kumimoji="1" lang="en-US" altLang="zh-CN" dirty="0">
                <a:solidFill>
                  <a:srgbClr val="C00000"/>
                </a:solidFill>
              </a:rPr>
              <a:t>)</a:t>
            </a:r>
            <a:r>
              <a:rPr kumimoji="1" lang="zh-CN" altLang="en-US" dirty="0">
                <a:solidFill>
                  <a:srgbClr val="C00000"/>
                </a:solidFill>
              </a:rPr>
              <a:t>参有</a:t>
            </a:r>
            <a:r>
              <a:rPr kumimoji="1" lang="en-US" altLang="zh-CN" dirty="0">
                <a:solidFill>
                  <a:srgbClr val="C00000"/>
                </a:solidFill>
              </a:rPr>
              <a:t>(</a:t>
            </a:r>
            <a:r>
              <a:rPr kumimoji="1" lang="zh-CN" altLang="en-US" dirty="0">
                <a:solidFill>
                  <a:srgbClr val="C00000"/>
                </a:solidFill>
              </a:rPr>
              <a:t>无</a:t>
            </a:r>
            <a:r>
              <a:rPr kumimoji="1" lang="en-US" altLang="zh-CN" dirty="0">
                <a:solidFill>
                  <a:srgbClr val="C00000"/>
                </a:solidFill>
              </a:rPr>
              <a:t>)</a:t>
            </a:r>
            <a:r>
              <a:rPr kumimoji="1" lang="zh-CN" altLang="en-US" dirty="0">
                <a:solidFill>
                  <a:srgbClr val="C00000"/>
                </a:solidFill>
              </a:rPr>
              <a:t>返回值的原函数装饰、不定长参数原函数装饰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多个装饰器的使用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带有参数装饰器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lang="zh-CN" altLang="en-US" dirty="0"/>
              <a:t>深浅拷贝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2461" y="2022957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装饰器的使用</a:t>
            </a:r>
          </a:p>
        </p:txBody>
      </p:sp>
      <p:sp>
        <p:nvSpPr>
          <p:cNvPr id="2" name="矩形 1"/>
          <p:cNvSpPr/>
          <p:nvPr/>
        </p:nvSpPr>
        <p:spPr>
          <a:xfrm>
            <a:off x="896521" y="1373062"/>
            <a:ext cx="1736668" cy="41138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函数分类</a:t>
            </a:r>
            <a:endParaRPr lang="zh-CN" sz="14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1" name="TextBox 3"/>
          <p:cNvSpPr txBox="1"/>
          <p:nvPr/>
        </p:nvSpPr>
        <p:spPr>
          <a:xfrm>
            <a:off x="3199765" y="2166620"/>
            <a:ext cx="6244590" cy="378460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无参无返回值的函数</a:t>
            </a:r>
            <a:endParaRPr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定义: def 函数名(): ...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调用: 函数名()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有参无返回值的函数</a:t>
            </a:r>
            <a:endParaRPr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定义: def 函数名(形参): ...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调用: 函数名(实参)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无参有返回值的函数</a:t>
            </a:r>
            <a:endParaRPr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定义: def 函数名(): ... return 返回值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调用: 用变量接收返回值 = 函数名()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有参有返回值的函数</a:t>
            </a:r>
            <a:endParaRPr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定义: def 函数名(形参): ... return 返回值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调用: 用变量接收返回值 = 函数名(实参)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装饰器的使用</a:t>
            </a:r>
          </a:p>
        </p:txBody>
      </p:sp>
      <p:sp>
        <p:nvSpPr>
          <p:cNvPr id="59" name="矩形 58"/>
          <p:cNvSpPr/>
          <p:nvPr/>
        </p:nvSpPr>
        <p:spPr>
          <a:xfrm>
            <a:off x="705484" y="1472221"/>
            <a:ext cx="3345815" cy="41148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装饰器装饰无参无返回值的函数</a:t>
            </a:r>
            <a:endParaRPr lang="zh-CN" sz="14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40814" y="2001944"/>
            <a:ext cx="8241665" cy="5835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在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无参无返回值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的原有函数求和计算结果之前，添加一个友好提示(注意：不能改变源码)：正在努力计算中...。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01574" y="2025326"/>
            <a:ext cx="1412240" cy="534035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需求</a:t>
            </a:r>
            <a:endParaRPr lang="zh-CN" altLang="en-US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3087030" y="2790339"/>
            <a:ext cx="6244590" cy="378565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#1.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定义装饰器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print_info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func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():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有嵌套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"【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友好提示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】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正在努力计算中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..."</a:t>
            </a:r>
            <a:r>
              <a:rPr lang="en-US" altLang="zh-CN" sz="1600" dirty="0"/>
              <a:t>) 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有额外功能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 err="1"/>
              <a:t>func</a:t>
            </a:r>
            <a:r>
              <a:rPr lang="en-GB" altLang="zh-CN" sz="1600" dirty="0"/>
              <a:t>()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有引用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有返回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2.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定义函数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,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并添加语法糖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dirty="0">
                <a:solidFill>
                  <a:srgbClr val="9E880D"/>
                </a:solidFill>
                <a:effectLst/>
              </a:rPr>
              <a:t>@</a:t>
            </a:r>
            <a:r>
              <a:rPr lang="en-GB" altLang="zh-CN" sz="1600" dirty="0" err="1">
                <a:solidFill>
                  <a:srgbClr val="9E880D"/>
                </a:solidFill>
                <a:effectLst/>
              </a:rPr>
              <a:t>print_info</a:t>
            </a:r>
            <a:br>
              <a:rPr lang="en-GB" altLang="zh-CN" sz="1600" dirty="0">
                <a:solidFill>
                  <a:srgbClr val="9E880D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get_sum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a =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10</a:t>
            </a:r>
            <a:br>
              <a:rPr lang="en-GB" altLang="zh-CN" sz="1600" dirty="0">
                <a:solidFill>
                  <a:srgbClr val="1750EB"/>
                </a:solidFill>
                <a:effectLst/>
              </a:rPr>
            </a:br>
            <a:r>
              <a:rPr lang="en-GB" altLang="zh-CN" sz="1600" dirty="0">
                <a:solidFill>
                  <a:srgbClr val="1750EB"/>
                </a:solidFill>
                <a:effectLst/>
              </a:rPr>
              <a:t>    </a:t>
            </a:r>
            <a:r>
              <a:rPr lang="en-GB" altLang="zh-CN" sz="1600" dirty="0"/>
              <a:t>b =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20</a:t>
            </a:r>
            <a:br>
              <a:rPr lang="en-GB" altLang="zh-CN" sz="1600" dirty="0">
                <a:solidFill>
                  <a:srgbClr val="1750EB"/>
                </a:solidFill>
                <a:effectLst/>
              </a:rPr>
            </a:br>
            <a:r>
              <a:rPr lang="en-GB" altLang="zh-CN" sz="1600" dirty="0">
                <a:solidFill>
                  <a:srgbClr val="1750EB"/>
                </a:solidFill>
                <a:effectLst/>
              </a:rPr>
              <a:t>    </a:t>
            </a:r>
            <a:r>
              <a:rPr lang="en-GB" altLang="zh-CN" sz="1600" dirty="0"/>
              <a:t>c = a + b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两数之和为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: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/>
              <a:t>c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3.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调用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 err="1"/>
              <a:t>get_sum</a:t>
            </a:r>
            <a:r>
              <a:rPr lang="en-GB" altLang="zh-CN" sz="1600" dirty="0"/>
              <a:t>()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装饰器的使用</a:t>
            </a:r>
          </a:p>
        </p:txBody>
      </p:sp>
      <p:sp>
        <p:nvSpPr>
          <p:cNvPr id="59" name="矩形 58"/>
          <p:cNvSpPr/>
          <p:nvPr/>
        </p:nvSpPr>
        <p:spPr>
          <a:xfrm>
            <a:off x="705484" y="1472221"/>
            <a:ext cx="3345815" cy="41148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装饰器装饰</a:t>
            </a:r>
            <a:r>
              <a:rPr lang="zh-CN" altLang="en-US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</a:t>
            </a: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参无返回值的函数</a:t>
            </a:r>
            <a:endParaRPr lang="zh-CN" sz="14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40814" y="2001944"/>
            <a:ext cx="8241665" cy="5835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在</a:t>
            </a:r>
            <a:r>
              <a:rPr lang="zh-CN" altLang="en-US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有</a:t>
            </a:r>
            <a:r>
              <a:rPr sz="1600" b="1" dirty="0" err="1">
                <a:solidFill>
                  <a:srgbClr val="C00000"/>
                </a:solidFill>
                <a:ea typeface="Alibaba PuHuiTi R" pitchFamily="18" charset="-122"/>
                <a:sym typeface="+mn-ea"/>
              </a:rPr>
              <a:t>参无返回值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的原有函数求和计算结果之前，添加一个友好提示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(注意：不能改变源码)：正在努力计算中...。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01574" y="2025326"/>
            <a:ext cx="1412240" cy="534035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需求</a:t>
            </a:r>
            <a:endParaRPr lang="zh-CN" altLang="en-US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3162187" y="2703752"/>
            <a:ext cx="6244590" cy="378460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1.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定义装饰器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print_info</a:t>
            </a:r>
            <a:r>
              <a:rPr lang="en-GB" altLang="zh-CN" sz="1600" dirty="0"/>
              <a:t>(</a:t>
            </a:r>
            <a:r>
              <a:rPr lang="en-GB" altLang="zh-CN" sz="1600" dirty="0" err="1">
                <a:solidFill>
                  <a:srgbClr val="C00000"/>
                </a:solidFill>
              </a:rPr>
              <a:t>func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</a:t>
            </a:r>
            <a:r>
              <a:rPr lang="en-GB" altLang="zh-CN" sz="1600" dirty="0" err="1">
                <a:solidFill>
                  <a:srgbClr val="C00000"/>
                </a:solidFill>
              </a:rPr>
              <a:t>a,b</a:t>
            </a:r>
            <a:r>
              <a:rPr lang="en-GB" altLang="zh-CN" sz="1600" dirty="0"/>
              <a:t>):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有嵌套      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"【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友好提示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2】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努力计算中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..."</a:t>
            </a:r>
            <a:r>
              <a:rPr lang="en-US" altLang="zh-CN" sz="1600" dirty="0"/>
              <a:t>)  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有额外功能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 err="1"/>
              <a:t>func</a:t>
            </a:r>
            <a:r>
              <a:rPr lang="en-GB" altLang="zh-CN" sz="1600" dirty="0"/>
              <a:t>(</a:t>
            </a:r>
            <a:r>
              <a:rPr lang="en-GB" altLang="zh-CN" sz="1600" dirty="0" err="1"/>
              <a:t>a,b</a:t>
            </a:r>
            <a:r>
              <a:rPr lang="en-GB" altLang="zh-CN" sz="1600" dirty="0"/>
              <a:t>)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有引用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有返回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2.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定义函数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,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添加语法糖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dirty="0">
                <a:solidFill>
                  <a:srgbClr val="9E880D"/>
                </a:solidFill>
                <a:effectLst/>
              </a:rPr>
              <a:t>@</a:t>
            </a:r>
            <a:r>
              <a:rPr lang="en-GB" altLang="zh-CN" sz="1600" dirty="0" err="1">
                <a:solidFill>
                  <a:srgbClr val="9E880D"/>
                </a:solidFill>
                <a:effectLst/>
              </a:rPr>
              <a:t>print_info</a:t>
            </a:r>
            <a:br>
              <a:rPr lang="en-GB" altLang="zh-CN" sz="1600" dirty="0">
                <a:solidFill>
                  <a:srgbClr val="9E880D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get_sum</a:t>
            </a:r>
            <a:r>
              <a:rPr lang="en-GB" altLang="zh-CN" sz="1600" dirty="0"/>
              <a:t>(</a:t>
            </a:r>
            <a:r>
              <a:rPr lang="en-GB" altLang="zh-CN" sz="1600" dirty="0" err="1"/>
              <a:t>x,y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z = x + y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两数之和为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: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/>
              <a:t>z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3.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调用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 err="1"/>
              <a:t>get_sum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20</a:t>
            </a:r>
            <a:r>
              <a:rPr lang="en-GB" altLang="zh-CN" sz="1600" dirty="0"/>
              <a:t>,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35</a:t>
            </a:r>
            <a:r>
              <a:rPr lang="en-GB" altLang="zh-CN" sz="1600" dirty="0"/>
              <a:t>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装饰器的使用</a:t>
            </a:r>
          </a:p>
        </p:txBody>
      </p:sp>
      <p:sp>
        <p:nvSpPr>
          <p:cNvPr id="59" name="矩形 58"/>
          <p:cNvSpPr/>
          <p:nvPr/>
        </p:nvSpPr>
        <p:spPr>
          <a:xfrm>
            <a:off x="705484" y="1472221"/>
            <a:ext cx="3345815" cy="41148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装饰器装饰</a:t>
            </a:r>
            <a:r>
              <a:rPr lang="zh-CN" altLang="en-US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无</a:t>
            </a: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参</a:t>
            </a:r>
            <a:r>
              <a:rPr lang="zh-CN" altLang="en-US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</a:t>
            </a: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返回值的函数</a:t>
            </a:r>
            <a:endParaRPr lang="zh-CN" sz="14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40814" y="2001944"/>
            <a:ext cx="8241665" cy="5835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在</a:t>
            </a:r>
            <a:r>
              <a:rPr lang="zh-CN" altLang="en-US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无</a:t>
            </a:r>
            <a:r>
              <a:rPr sz="1600" b="1" dirty="0" err="1">
                <a:solidFill>
                  <a:srgbClr val="C00000"/>
                </a:solidFill>
                <a:ea typeface="Alibaba PuHuiTi R" pitchFamily="18" charset="-122"/>
                <a:sym typeface="+mn-ea"/>
              </a:rPr>
              <a:t>参</a:t>
            </a:r>
            <a:r>
              <a:rPr lang="zh-CN" altLang="en-US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有</a:t>
            </a:r>
            <a:r>
              <a:rPr sz="1600" b="1" dirty="0" err="1">
                <a:solidFill>
                  <a:srgbClr val="C00000"/>
                </a:solidFill>
                <a:ea typeface="Alibaba PuHuiTi R" pitchFamily="18" charset="-122"/>
                <a:sym typeface="+mn-ea"/>
              </a:rPr>
              <a:t>返回值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的原有函数求和计算结果之前，添加一个友好提示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(注意：不能改变源码)：正在努力计算中...。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01574" y="2025326"/>
            <a:ext cx="1412240" cy="534035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需求</a:t>
            </a:r>
            <a:endParaRPr lang="zh-CN" altLang="en-US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3162187" y="2703752"/>
            <a:ext cx="6244590" cy="403187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1.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定义装饰器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print_info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func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():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有嵌套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"【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友好提示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】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正在努力计算中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..."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</a:t>
            </a:r>
            <a:r>
              <a:rPr lang="en-GB" altLang="zh-CN" sz="1600" dirty="0"/>
              <a:t>result = </a:t>
            </a:r>
            <a:r>
              <a:rPr lang="en-GB" altLang="zh-CN" sz="1600" dirty="0" err="1"/>
              <a:t>func</a:t>
            </a:r>
            <a:r>
              <a:rPr lang="en-GB" altLang="zh-CN" sz="1600" dirty="0"/>
              <a:t>()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有引用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result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原有函数有返回值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有返回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2.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定义函数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,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添加语法糖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dirty="0">
                <a:solidFill>
                  <a:srgbClr val="9E880D"/>
                </a:solidFill>
                <a:effectLst/>
              </a:rPr>
              <a:t>@</a:t>
            </a:r>
            <a:r>
              <a:rPr lang="en-GB" altLang="zh-CN" sz="1600" dirty="0" err="1">
                <a:solidFill>
                  <a:srgbClr val="9E880D"/>
                </a:solidFill>
                <a:effectLst/>
              </a:rPr>
              <a:t>print_info</a:t>
            </a:r>
            <a:br>
              <a:rPr lang="en-GB" altLang="zh-CN" sz="1600" dirty="0">
                <a:solidFill>
                  <a:srgbClr val="9E880D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get_sum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x =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19</a:t>
            </a:r>
            <a:br>
              <a:rPr lang="en-GB" altLang="zh-CN" sz="1600" dirty="0">
                <a:solidFill>
                  <a:srgbClr val="1750EB"/>
                </a:solidFill>
                <a:effectLst/>
              </a:rPr>
            </a:br>
            <a:r>
              <a:rPr lang="en-GB" altLang="zh-CN" sz="1600" dirty="0">
                <a:solidFill>
                  <a:srgbClr val="1750EB"/>
                </a:solidFill>
                <a:effectLst/>
              </a:rPr>
              <a:t>    </a:t>
            </a:r>
            <a:r>
              <a:rPr lang="en-GB" altLang="zh-CN" sz="1600" dirty="0"/>
              <a:t>y =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34</a:t>
            </a:r>
            <a:br>
              <a:rPr lang="en-GB" altLang="zh-CN" sz="1600" dirty="0">
                <a:solidFill>
                  <a:srgbClr val="1750EB"/>
                </a:solidFill>
                <a:effectLst/>
              </a:rPr>
            </a:br>
            <a:r>
              <a:rPr lang="en-GB" altLang="zh-CN" sz="1600" dirty="0">
                <a:solidFill>
                  <a:srgbClr val="1750EB"/>
                </a:solidFill>
                <a:effectLst/>
              </a:rPr>
              <a:t>    </a:t>
            </a:r>
            <a:r>
              <a:rPr lang="en-GB" altLang="zh-CN" sz="1600" dirty="0"/>
              <a:t>z = x + y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z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求和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3.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调用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 err="1"/>
              <a:t>get_sum</a:t>
            </a:r>
            <a:r>
              <a:rPr lang="en-GB" altLang="zh-CN" sz="1600" dirty="0"/>
              <a:t>())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装饰器的使用</a:t>
            </a:r>
          </a:p>
        </p:txBody>
      </p:sp>
      <p:sp>
        <p:nvSpPr>
          <p:cNvPr id="59" name="矩形 58"/>
          <p:cNvSpPr/>
          <p:nvPr/>
        </p:nvSpPr>
        <p:spPr>
          <a:xfrm>
            <a:off x="705484" y="1472221"/>
            <a:ext cx="3345815" cy="41148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装饰器装饰</a:t>
            </a:r>
            <a:r>
              <a:rPr lang="zh-CN" altLang="en-US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</a:t>
            </a: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参</a:t>
            </a:r>
            <a:r>
              <a:rPr lang="zh-CN" altLang="en-US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有</a:t>
            </a: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返回值的函数</a:t>
            </a:r>
            <a:endParaRPr lang="zh-CN" sz="14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40814" y="2001944"/>
            <a:ext cx="8241665" cy="5835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在</a:t>
            </a:r>
            <a:r>
              <a:rPr lang="zh-CN" altLang="en-US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有</a:t>
            </a:r>
            <a:r>
              <a:rPr sz="1600" b="1" dirty="0" err="1">
                <a:solidFill>
                  <a:srgbClr val="C00000"/>
                </a:solidFill>
                <a:ea typeface="Alibaba PuHuiTi R" pitchFamily="18" charset="-122"/>
                <a:sym typeface="+mn-ea"/>
              </a:rPr>
              <a:t>参</a:t>
            </a:r>
            <a:r>
              <a:rPr lang="zh-CN" altLang="en-US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有</a:t>
            </a:r>
            <a:r>
              <a:rPr sz="1600" b="1" dirty="0" err="1">
                <a:solidFill>
                  <a:srgbClr val="C00000"/>
                </a:solidFill>
                <a:ea typeface="Alibaba PuHuiTi R" pitchFamily="18" charset="-122"/>
                <a:sym typeface="+mn-ea"/>
              </a:rPr>
              <a:t>返回值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的原有函数求和计算结果之前，添加一个友好提示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(注意：不能改变源码)：正在努力计算中...。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01574" y="2025326"/>
            <a:ext cx="1412240" cy="534035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需求</a:t>
            </a:r>
            <a:endParaRPr lang="zh-CN" altLang="en-US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2973705" y="2714408"/>
            <a:ext cx="6244590" cy="378565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1.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定义装饰器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print_info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func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</a:t>
            </a:r>
            <a:r>
              <a:rPr lang="en-GB" altLang="zh-CN" sz="1600" dirty="0" err="1"/>
              <a:t>a,b</a:t>
            </a:r>
            <a:r>
              <a:rPr lang="en-GB" altLang="zh-CN" sz="1600" dirty="0"/>
              <a:t>):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有嵌套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有额外功能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"【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友好提示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】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正在努力计算中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..."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</a:t>
            </a:r>
            <a:r>
              <a:rPr lang="en-GB" altLang="zh-CN" sz="1600" dirty="0"/>
              <a:t>result = </a:t>
            </a:r>
            <a:r>
              <a:rPr lang="en-GB" altLang="zh-CN" sz="1600" dirty="0" err="1"/>
              <a:t>func</a:t>
            </a:r>
            <a:r>
              <a:rPr lang="en-GB" altLang="zh-CN" sz="1600" dirty="0"/>
              <a:t>(</a:t>
            </a:r>
            <a:r>
              <a:rPr lang="en-GB" altLang="zh-CN" sz="1600" dirty="0" err="1"/>
              <a:t>a,b</a:t>
            </a:r>
            <a:r>
              <a:rPr lang="en-GB" altLang="zh-CN" sz="1600" dirty="0"/>
              <a:t>)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引用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result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有返回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2.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定义函数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,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并添加语法糖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dirty="0">
                <a:solidFill>
                  <a:srgbClr val="9E880D"/>
                </a:solidFill>
                <a:effectLst/>
              </a:rPr>
              <a:t>@</a:t>
            </a:r>
            <a:r>
              <a:rPr lang="en-GB" altLang="zh-CN" sz="1600" dirty="0" err="1">
                <a:solidFill>
                  <a:srgbClr val="9E880D"/>
                </a:solidFill>
                <a:effectLst/>
              </a:rPr>
              <a:t>print_info</a:t>
            </a:r>
            <a:br>
              <a:rPr lang="en-GB" altLang="zh-CN" sz="1600" dirty="0">
                <a:solidFill>
                  <a:srgbClr val="9E880D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get_sum</a:t>
            </a:r>
            <a:r>
              <a:rPr lang="en-GB" altLang="zh-CN" sz="1600" dirty="0"/>
              <a:t>(</a:t>
            </a:r>
            <a:r>
              <a:rPr lang="en-GB" altLang="zh-CN" sz="1600" dirty="0" err="1"/>
              <a:t>x,y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z = x + y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z</a:t>
            </a: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3.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调用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 err="1"/>
              <a:t>get_sum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13</a:t>
            </a:r>
            <a:r>
              <a:rPr lang="en-GB" altLang="zh-CN" sz="1600" dirty="0"/>
              <a:t>,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45</a:t>
            </a:r>
            <a:r>
              <a:rPr lang="en-GB" altLang="zh-CN" sz="1600" dirty="0"/>
              <a:t>))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573094" y="731845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通用装饰器的使用</a:t>
            </a:r>
            <a:r>
              <a:rPr lang="zh-CN" altLang="en-US" dirty="0"/>
              <a:t>（函数参数是不定长的，有返回值）</a:t>
            </a:r>
            <a:endParaRPr dirty="0"/>
          </a:p>
        </p:txBody>
      </p:sp>
      <p:sp>
        <p:nvSpPr>
          <p:cNvPr id="6" name="文本框 5"/>
          <p:cNvSpPr txBox="1"/>
          <p:nvPr/>
        </p:nvSpPr>
        <p:spPr>
          <a:xfrm>
            <a:off x="2497361" y="1306180"/>
            <a:ext cx="8241665" cy="79560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定义一个可以计算</a:t>
            </a:r>
            <a:r>
              <a:rPr lang="zh-CN"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多个数据和多个字典</a:t>
            </a:r>
            <a:r>
              <a:rPr lang="en-US" altLang="zh-CN"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value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值之和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的函数，并调用。</a:t>
            </a:r>
            <a:endParaRPr sz="1600" dirty="0">
              <a:solidFill>
                <a:srgbClr val="262626"/>
              </a:solidFill>
              <a:ea typeface="Alibaba PuHuiTi R" pitchFamily="18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在原有函数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计算结果之前，加一个友好提示(不能改变源码)：</a:t>
            </a:r>
            <a:r>
              <a:rPr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正在努力计算中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...。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10880" y="1454134"/>
            <a:ext cx="1412240" cy="534035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需求</a:t>
            </a:r>
            <a:endParaRPr lang="zh-CN" altLang="en-US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0880" y="2528396"/>
            <a:ext cx="25164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*args: 元组类型</a:t>
            </a:r>
            <a:endParaRPr lang="zh-CN" altLang="en-US" dirty="0"/>
          </a:p>
          <a:p>
            <a:r>
              <a:rPr lang="zh-CN" altLang="en-US" dirty="0"/>
              <a:t>**kwargs: 字典类型</a:t>
            </a:r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3876130" y="2193270"/>
            <a:ext cx="4092728" cy="452431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1.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定义装饰器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print_info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func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(*</a:t>
            </a:r>
            <a:r>
              <a:rPr lang="en-GB" altLang="zh-CN" sz="1600" dirty="0" err="1"/>
              <a:t>args</a:t>
            </a:r>
            <a:r>
              <a:rPr lang="en-GB" altLang="zh-CN" sz="1600" dirty="0"/>
              <a:t>,**</a:t>
            </a:r>
            <a:r>
              <a:rPr lang="en-GB" altLang="zh-CN" sz="1600" dirty="0" err="1"/>
              <a:t>kwargs</a:t>
            </a:r>
            <a:r>
              <a:rPr lang="en-GB" altLang="zh-CN" sz="1600" dirty="0"/>
              <a:t>):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有嵌套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“【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友好提示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】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正在努力计算中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...”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return</a:t>
            </a:r>
            <a:r>
              <a:rPr lang="zh-CN" altLang="en-US" sz="1600" dirty="0"/>
              <a:t> </a:t>
            </a:r>
            <a:r>
              <a:rPr lang="en-GB" altLang="zh-CN" sz="1600" dirty="0" err="1"/>
              <a:t>func</a:t>
            </a:r>
            <a:r>
              <a:rPr lang="en-GB" altLang="zh-CN" sz="1600" dirty="0"/>
              <a:t>(*</a:t>
            </a:r>
            <a:r>
              <a:rPr lang="en-GB" altLang="zh-CN" sz="1600" dirty="0" err="1"/>
              <a:t>args</a:t>
            </a:r>
            <a:r>
              <a:rPr lang="en-GB" altLang="zh-CN" sz="1600" dirty="0"/>
              <a:t>,**</a:t>
            </a:r>
            <a:r>
              <a:rPr lang="en-GB" altLang="zh-CN" sz="1600" dirty="0" err="1"/>
              <a:t>kwargs</a:t>
            </a:r>
            <a:r>
              <a:rPr lang="en-GB" altLang="zh-CN" sz="1600" dirty="0"/>
              <a:t>)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有引用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有返回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2.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定义函数，并添加语法糖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dirty="0">
                <a:solidFill>
                  <a:srgbClr val="9E880D"/>
                </a:solidFill>
                <a:effectLst/>
              </a:rPr>
              <a:t>@</a:t>
            </a:r>
            <a:r>
              <a:rPr lang="en-GB" altLang="zh-CN" sz="1600" dirty="0" err="1">
                <a:solidFill>
                  <a:srgbClr val="9E880D"/>
                </a:solidFill>
                <a:effectLst/>
              </a:rPr>
              <a:t>print_info</a:t>
            </a:r>
            <a:r>
              <a:rPr lang="zh-CN" altLang="en-US" sz="1600" dirty="0">
                <a:solidFill>
                  <a:srgbClr val="9E880D"/>
                </a:solidFill>
                <a:effectLst/>
              </a:rPr>
              <a:t>   </a:t>
            </a:r>
            <a:r>
              <a:rPr lang="en-US" altLang="zh-CN" sz="1600" dirty="0">
                <a:solidFill>
                  <a:srgbClr val="9E880D"/>
                </a:solidFill>
                <a:effectLst/>
              </a:rPr>
              <a:t>#</a:t>
            </a:r>
            <a:r>
              <a:rPr lang="zh-CN" altLang="en-US" sz="1600" dirty="0">
                <a:solidFill>
                  <a:srgbClr val="9E880D"/>
                </a:solidFill>
                <a:effectLst/>
              </a:rPr>
              <a:t> </a:t>
            </a:r>
            <a:r>
              <a:rPr lang="en-GB" altLang="zh-CN" sz="1600" dirty="0" err="1">
                <a:solidFill>
                  <a:srgbClr val="C00000"/>
                </a:solidFill>
              </a:rPr>
              <a:t>args</a:t>
            </a:r>
            <a:r>
              <a:rPr lang="zh-CN" altLang="en-US" sz="1600" dirty="0">
                <a:solidFill>
                  <a:srgbClr val="C00000"/>
                </a:solidFill>
              </a:rPr>
              <a:t>元组，</a:t>
            </a:r>
            <a:r>
              <a:rPr lang="en-GB" altLang="zh-CN" sz="1600" dirty="0">
                <a:solidFill>
                  <a:srgbClr val="C00000"/>
                </a:solidFill>
              </a:rPr>
              <a:t> </a:t>
            </a:r>
            <a:r>
              <a:rPr lang="en-GB" altLang="zh-CN" sz="1600" dirty="0" err="1">
                <a:solidFill>
                  <a:srgbClr val="C00000"/>
                </a:solidFill>
              </a:rPr>
              <a:t>kwargs</a:t>
            </a:r>
            <a:r>
              <a:rPr lang="zh-CN" altLang="en-GB" sz="1600" dirty="0">
                <a:solidFill>
                  <a:srgbClr val="C00000"/>
                </a:solidFill>
              </a:rPr>
              <a:t>字典</a:t>
            </a:r>
            <a:br>
              <a:rPr lang="en-GB" altLang="zh-CN" sz="1600" dirty="0">
                <a:solidFill>
                  <a:srgbClr val="9E880D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get_sum</a:t>
            </a:r>
            <a:r>
              <a:rPr lang="en-GB" altLang="zh-CN" sz="1600" dirty="0"/>
              <a:t>(*</a:t>
            </a:r>
            <a:r>
              <a:rPr lang="en-GB" altLang="zh-CN" sz="1600" dirty="0" err="1"/>
              <a:t>args</a:t>
            </a:r>
            <a:r>
              <a:rPr lang="en-GB" altLang="zh-CN" sz="1600" dirty="0"/>
              <a:t>, **</a:t>
            </a:r>
            <a:r>
              <a:rPr lang="en-GB" altLang="zh-CN" sz="1600" dirty="0" err="1"/>
              <a:t>kwargs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result =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0</a:t>
            </a:r>
            <a:br>
              <a:rPr lang="en-GB" altLang="zh-CN" sz="1600" dirty="0">
                <a:solidFill>
                  <a:srgbClr val="1750EB"/>
                </a:solidFill>
                <a:effectLst/>
              </a:rPr>
            </a:br>
            <a:r>
              <a:rPr lang="en-GB" altLang="zh-CN" sz="1600" dirty="0">
                <a:solidFill>
                  <a:srgbClr val="1750EB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for </a:t>
            </a:r>
            <a:r>
              <a:rPr lang="en-GB" altLang="zh-CN" sz="1600" dirty="0"/>
              <a:t>value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in </a:t>
            </a:r>
            <a:r>
              <a:rPr lang="en-GB" altLang="zh-CN" sz="1600" dirty="0" err="1"/>
              <a:t>args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    result += value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for </a:t>
            </a:r>
            <a:r>
              <a:rPr lang="en-GB" altLang="zh-CN" sz="1600" dirty="0"/>
              <a:t>value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in </a:t>
            </a:r>
            <a:r>
              <a:rPr lang="en-GB" altLang="zh-CN" sz="1600" dirty="0" err="1"/>
              <a:t>kwargs.values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    result += value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result</a:t>
            </a: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3.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调用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 err="1"/>
              <a:t>get_sum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</a:t>
            </a:r>
            <a:r>
              <a:rPr lang="en-GB" altLang="zh-CN" sz="1600" dirty="0"/>
              <a:t>,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3</a:t>
            </a:r>
            <a:r>
              <a:rPr lang="en-GB" altLang="zh-CN" sz="1600" dirty="0"/>
              <a:t>,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4</a:t>
            </a:r>
            <a:r>
              <a:rPr lang="en-GB" altLang="zh-CN" sz="1600" dirty="0"/>
              <a:t>,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5</a:t>
            </a:r>
            <a:r>
              <a:rPr lang="en-GB" altLang="zh-CN" sz="1600" dirty="0"/>
              <a:t>,</a:t>
            </a:r>
            <a:r>
              <a:rPr lang="en-GB" altLang="zh-CN" sz="1600" dirty="0">
                <a:solidFill>
                  <a:srgbClr val="660099"/>
                </a:solidFill>
                <a:effectLst/>
              </a:rPr>
              <a:t>a</a:t>
            </a:r>
            <a:r>
              <a:rPr lang="en-GB" altLang="zh-CN" sz="1600" dirty="0"/>
              <a:t>=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10</a:t>
            </a:r>
            <a:r>
              <a:rPr lang="en-GB" altLang="zh-CN" sz="1600" dirty="0"/>
              <a:t>,</a:t>
            </a:r>
            <a:r>
              <a:rPr lang="en-GB" altLang="zh-CN" sz="1600" dirty="0">
                <a:solidFill>
                  <a:srgbClr val="660099"/>
                </a:solidFill>
                <a:effectLst/>
              </a:rPr>
              <a:t>b</a:t>
            </a:r>
            <a:r>
              <a:rPr lang="en-GB" altLang="zh-CN" sz="1600" dirty="0"/>
              <a:t>=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20</a:t>
            </a:r>
            <a:r>
              <a:rPr lang="en-GB" altLang="zh-CN" sz="1600" dirty="0"/>
              <a:t>,</a:t>
            </a:r>
            <a:r>
              <a:rPr lang="en-GB" altLang="zh-CN" sz="1600" dirty="0">
                <a:solidFill>
                  <a:srgbClr val="660099"/>
                </a:solidFill>
                <a:effectLst/>
              </a:rPr>
              <a:t>c</a:t>
            </a:r>
            <a:r>
              <a:rPr lang="en-GB" altLang="zh-CN" sz="1600" dirty="0"/>
              <a:t>=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30</a:t>
            </a:r>
            <a:r>
              <a:rPr lang="en-GB" altLang="zh-CN" sz="1600" dirty="0"/>
              <a:t>)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132730" y="986119"/>
            <a:ext cx="7207623" cy="3281082"/>
          </a:xfrm>
        </p:spPr>
        <p:txBody>
          <a:bodyPr/>
          <a:lstStyle/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dirty="0"/>
              <a:t>装饰器装饰4种不同分类的函数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     </a:t>
            </a:r>
            <a:r>
              <a:rPr lang="en-US" altLang="zh-CN" sz="1600" dirty="0"/>
              <a:t>a</a:t>
            </a:r>
            <a:r>
              <a:rPr lang="zh-CN" altLang="en-US" sz="1600" dirty="0"/>
              <a:t> 当</a:t>
            </a:r>
            <a:r>
              <a:rPr lang="zh-CN" altLang="en-US" sz="1600" dirty="0">
                <a:solidFill>
                  <a:srgbClr val="C00000"/>
                </a:solidFill>
              </a:rPr>
              <a:t>原有函数</a:t>
            </a:r>
            <a:r>
              <a:rPr lang="zh-CN" altLang="en-US" sz="1600" dirty="0"/>
              <a:t>没有参数时</a:t>
            </a:r>
            <a:r>
              <a:rPr lang="en-US" altLang="zh-CN" sz="1600" dirty="0"/>
              <a:t>,</a:t>
            </a:r>
            <a:r>
              <a:rPr lang="zh-CN" altLang="en-US" sz="1600" dirty="0"/>
              <a:t> 对应定义的</a:t>
            </a:r>
            <a:r>
              <a:rPr lang="zh-CN" altLang="en-US" sz="1600" dirty="0">
                <a:solidFill>
                  <a:srgbClr val="C00000"/>
                </a:solidFill>
              </a:rPr>
              <a:t>装饰器的内部函数</a:t>
            </a:r>
            <a:r>
              <a:rPr lang="zh-CN" altLang="en-US" sz="1600" dirty="0"/>
              <a:t>也没有参数</a:t>
            </a:r>
            <a:endParaRPr lang="en-US" altLang="zh-CN" sz="1600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     </a:t>
            </a:r>
            <a:r>
              <a:rPr lang="en-US" altLang="zh-CN" sz="1600" dirty="0"/>
              <a:t>b</a:t>
            </a:r>
            <a:r>
              <a:rPr lang="zh-CN" altLang="en-US" sz="1600" dirty="0"/>
              <a:t> 当</a:t>
            </a:r>
            <a:r>
              <a:rPr lang="zh-CN" altLang="en-US" sz="1600" dirty="0">
                <a:solidFill>
                  <a:srgbClr val="C00000"/>
                </a:solidFill>
              </a:rPr>
              <a:t>原有函数</a:t>
            </a:r>
            <a:r>
              <a:rPr lang="zh-CN" altLang="en-US" sz="1600" dirty="0"/>
              <a:t>没有返回值时</a:t>
            </a:r>
            <a:r>
              <a:rPr lang="en-US" altLang="zh-CN" sz="1600" dirty="0"/>
              <a:t>,</a:t>
            </a:r>
            <a:r>
              <a:rPr lang="zh-CN" altLang="en-US" sz="1600" dirty="0"/>
              <a:t> 对应定义的</a:t>
            </a:r>
            <a:r>
              <a:rPr lang="zh-CN" altLang="en-US" sz="1600" dirty="0">
                <a:solidFill>
                  <a:srgbClr val="C00000"/>
                </a:solidFill>
              </a:rPr>
              <a:t>装饰器的内部函数</a:t>
            </a:r>
            <a:r>
              <a:rPr lang="zh-CN" altLang="en-US" sz="1600" dirty="0"/>
              <a:t>也没有返回值</a:t>
            </a:r>
            <a:endParaRPr lang="en-US" altLang="zh-CN" sz="1600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     </a:t>
            </a:r>
            <a:r>
              <a:rPr lang="en-US" altLang="zh-CN" sz="1600" dirty="0"/>
              <a:t>c</a:t>
            </a:r>
            <a:r>
              <a:rPr lang="zh-CN" altLang="en-US" sz="1600" dirty="0"/>
              <a:t> 当</a:t>
            </a:r>
            <a:r>
              <a:rPr lang="zh-CN" altLang="en-US" sz="1600" dirty="0">
                <a:solidFill>
                  <a:srgbClr val="C00000"/>
                </a:solidFill>
              </a:rPr>
              <a:t>原有函数</a:t>
            </a:r>
            <a:r>
              <a:rPr lang="zh-CN" altLang="en-US" sz="1600" dirty="0"/>
              <a:t>有返回值时</a:t>
            </a:r>
            <a:r>
              <a:rPr lang="en-US" altLang="zh-CN" sz="1600" dirty="0"/>
              <a:t>,</a:t>
            </a:r>
            <a:r>
              <a:rPr lang="zh-CN" altLang="en-US" sz="1600" dirty="0"/>
              <a:t> 定义的</a:t>
            </a:r>
            <a:r>
              <a:rPr lang="zh-CN" altLang="en-US" sz="1600" dirty="0">
                <a:solidFill>
                  <a:srgbClr val="C00000"/>
                </a:solidFill>
              </a:rPr>
              <a:t>装饰器的内部函数</a:t>
            </a:r>
            <a:r>
              <a:rPr lang="zh-CN" altLang="en-US" sz="1600" dirty="0"/>
              <a:t>中要返回值</a:t>
            </a:r>
            <a:endParaRPr lang="en-US" altLang="zh-CN" sz="1600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     </a:t>
            </a:r>
            <a:r>
              <a:rPr lang="en-US" altLang="zh-CN" sz="1600" dirty="0"/>
              <a:t>d</a:t>
            </a:r>
            <a:r>
              <a:rPr lang="zh-CN" altLang="en-US" sz="1600" dirty="0"/>
              <a:t> 当</a:t>
            </a:r>
            <a:r>
              <a:rPr lang="zh-CN" altLang="en-US" sz="1600" dirty="0">
                <a:solidFill>
                  <a:srgbClr val="C00000"/>
                </a:solidFill>
              </a:rPr>
              <a:t>原有函数有参数</a:t>
            </a:r>
            <a:r>
              <a:rPr lang="zh-CN" altLang="en-US" sz="1600" dirty="0"/>
              <a:t>时</a:t>
            </a:r>
            <a:r>
              <a:rPr lang="en-US" altLang="zh-CN" sz="1600" dirty="0"/>
              <a:t>,</a:t>
            </a:r>
            <a:r>
              <a:rPr lang="zh-CN" altLang="en-US" sz="1600" dirty="0"/>
              <a:t> 定义的</a:t>
            </a:r>
            <a:r>
              <a:rPr lang="zh-CN" altLang="en-US" sz="1600" dirty="0">
                <a:solidFill>
                  <a:srgbClr val="C00000"/>
                </a:solidFill>
              </a:rPr>
              <a:t>装饰器类的内部函数</a:t>
            </a:r>
            <a:r>
              <a:rPr lang="zh-CN" altLang="en-US" sz="1600" dirty="0"/>
              <a:t>也应该有参数</a:t>
            </a:r>
            <a:endParaRPr sz="1600" dirty="0"/>
          </a:p>
        </p:txBody>
      </p:sp>
      <p:sp>
        <p:nvSpPr>
          <p:cNvPr id="2" name="文本占位符 4"/>
          <p:cNvSpPr txBox="1"/>
          <p:nvPr/>
        </p:nvSpPr>
        <p:spPr>
          <a:xfrm>
            <a:off x="4298576" y="3989295"/>
            <a:ext cx="6875929" cy="95025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总之一句话：</a:t>
            </a:r>
            <a:r>
              <a:rPr lang="zh-CN" altLang="en-US" sz="1600" dirty="0">
                <a:solidFill>
                  <a:srgbClr val="C00000"/>
                </a:solidFill>
              </a:rPr>
              <a:t>原函数</a:t>
            </a:r>
            <a:r>
              <a:rPr lang="zh-CN" altLang="en-US" sz="1600" dirty="0"/>
              <a:t>是有参无参</a:t>
            </a:r>
            <a:r>
              <a:rPr lang="en-US" altLang="zh-CN" sz="1600" dirty="0"/>
              <a:t>,</a:t>
            </a:r>
            <a:r>
              <a:rPr lang="zh-CN" altLang="en-US" sz="1600" dirty="0"/>
              <a:t>有返回值无返回值</a:t>
            </a:r>
            <a:r>
              <a:rPr lang="en-US" altLang="zh-CN" sz="1600" dirty="0"/>
              <a:t>, </a:t>
            </a:r>
            <a:r>
              <a:rPr lang="zh-CN" altLang="en-US" sz="1600" dirty="0">
                <a:solidFill>
                  <a:srgbClr val="C00000"/>
                </a:solidFill>
              </a:rPr>
              <a:t>装饰器的内部函数</a:t>
            </a:r>
            <a:r>
              <a:rPr lang="zh-CN" altLang="en-US" sz="1600" dirty="0"/>
              <a:t>和原函数保持一致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1300797"/>
            <a:ext cx="5973761" cy="4256405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闭包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rgbClr val="C00000"/>
                </a:solidFill>
              </a:rPr>
              <a:t>多个装饰器的使用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kumimoji="1" lang="zh-CN" altLang="en-US" dirty="0">
                <a:solidFill>
                  <a:srgbClr val="C00000"/>
                </a:solidFill>
              </a:rPr>
              <a:t>        </a:t>
            </a:r>
            <a:r>
              <a:rPr kumimoji="1" lang="zh-CN" altLang="en-US" sz="1600" dirty="0">
                <a:solidFill>
                  <a:srgbClr val="C00000"/>
                </a:solidFill>
              </a:rPr>
              <a:t>多个装饰器装饰一个原函数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带有参数装饰器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lang="zh-CN" altLang="en-US" dirty="0"/>
              <a:t>深浅拷贝</a:t>
            </a:r>
            <a:endParaRPr lang="zh-CN" altLang="en-US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3289" y="3332858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125" y="1577340"/>
            <a:ext cx="6298565" cy="2499995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能够使用多个装饰器装饰一个函数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多个装饰器装饰一个函数</a:t>
            </a:r>
            <a:endParaRPr dirty="0"/>
          </a:p>
        </p:txBody>
      </p:sp>
      <p:sp>
        <p:nvSpPr>
          <p:cNvPr id="8" name="文本框 7"/>
          <p:cNvSpPr txBox="1"/>
          <p:nvPr/>
        </p:nvSpPr>
        <p:spPr>
          <a:xfrm>
            <a:off x="2830195" y="1457271"/>
            <a:ext cx="8300720" cy="83099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sz="16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例如，发表评论前，都是需要</a:t>
            </a: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sz="1600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先登录</a:t>
            </a:r>
            <a:r>
              <a:rPr lang="zh-CN" altLang="en-US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用户 再进行 验证码验证</a:t>
            </a:r>
            <a:r>
              <a:rPr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。</a:t>
            </a:r>
            <a:endParaRPr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先定义有发表评论的功能函数，然后在</a:t>
            </a:r>
            <a:r>
              <a:rPr lang="zh-CN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不改变原有函数的基础上</a:t>
            </a:r>
            <a:r>
              <a:rPr 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，需要</a:t>
            </a:r>
            <a:r>
              <a:rPr lang="zh-CN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先</a:t>
            </a:r>
            <a:r>
              <a:rPr lang="zh-CN" altLang="en-US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检查用户登录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和</a:t>
            </a:r>
            <a:r>
              <a:rPr lang="zh-CN" altLang="en-US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输入验证码</a:t>
            </a:r>
            <a:r>
              <a:rPr 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。</a:t>
            </a:r>
            <a:endParaRPr lang="zh-CN" sz="1600" dirty="0">
              <a:solidFill>
                <a:schemeClr val="tx1">
                  <a:lumMod val="95000"/>
                  <a:lumOff val="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22483" y="1667199"/>
            <a:ext cx="1896110" cy="49149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zh-CN" altLang="en-US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5947410" y="2058764"/>
            <a:ext cx="6244590" cy="477053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#1.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定义装饰器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1</a:t>
            </a:r>
            <a:br>
              <a:rPr lang="en-US" altLang="zh-CN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check_user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输入用户名和密码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</a:t>
            </a: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#2.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定义装饰器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2</a:t>
            </a:r>
            <a:br>
              <a:rPr lang="en-US" altLang="zh-CN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check_code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登录验证码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</a:t>
            </a: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3.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被装饰器的函数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dirty="0">
                <a:solidFill>
                  <a:srgbClr val="9E880D"/>
                </a:solidFill>
                <a:effectLst/>
              </a:rPr>
              <a:t>@</a:t>
            </a:r>
            <a:r>
              <a:rPr lang="en-GB" altLang="zh-CN" sz="1600" dirty="0" err="1">
                <a:solidFill>
                  <a:srgbClr val="9E880D"/>
                </a:solidFill>
                <a:effectLst/>
              </a:rPr>
              <a:t>check_user</a:t>
            </a:r>
            <a:br>
              <a:rPr lang="en-GB" altLang="zh-CN" sz="1600" dirty="0">
                <a:solidFill>
                  <a:srgbClr val="9E880D"/>
                </a:solidFill>
                <a:effectLst/>
              </a:rPr>
            </a:br>
            <a:r>
              <a:rPr lang="en-GB" altLang="zh-CN" sz="1600" dirty="0">
                <a:solidFill>
                  <a:srgbClr val="9E880D"/>
                </a:solidFill>
                <a:effectLst/>
              </a:rPr>
              <a:t>@</a:t>
            </a:r>
            <a:r>
              <a:rPr lang="en-GB" altLang="zh-CN" sz="1600" dirty="0" err="1">
                <a:solidFill>
                  <a:srgbClr val="9E880D"/>
                </a:solidFill>
                <a:effectLst/>
              </a:rPr>
              <a:t>check_code</a:t>
            </a:r>
            <a:br>
              <a:rPr lang="en-GB" altLang="zh-CN" sz="1600" dirty="0">
                <a:solidFill>
                  <a:srgbClr val="9E880D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comment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发表评论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4.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调用函数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/>
              <a:t>comment()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1351" y="2805458"/>
            <a:ext cx="5476764" cy="12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多个装饰器的装饰过程是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离函数最近的装饰器先装饰，然后外面的装饰器再进行装饰，由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内到外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的装饰过程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37842" y="598344"/>
            <a:ext cx="6242492" cy="4937957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闭包介绍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闭包的使用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多个装饰器的使用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rgbClr val="FF0000"/>
                </a:solidFill>
              </a:rPr>
              <a:t>带有参数装饰器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zh-CN" altLang="en-US" dirty="0">
                <a:solidFill>
                  <a:srgbClr val="FF0000"/>
                </a:solidFill>
              </a:rPr>
              <a:t>       </a:t>
            </a:r>
            <a:r>
              <a:rPr kumimoji="1" lang="zh-CN" altLang="en-US" sz="1600" dirty="0">
                <a:solidFill>
                  <a:srgbClr val="FF0000"/>
                </a:solidFill>
              </a:rPr>
              <a:t>一个装饰器装饰多个原函数</a:t>
            </a:r>
            <a:endParaRPr kumimoji="1" lang="en-US" altLang="zh-CN" sz="1600" dirty="0">
              <a:solidFill>
                <a:srgbClr val="FF0000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深浅拷贝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5848" y="391288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带有参数的装饰器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421717" y="1625103"/>
            <a:ext cx="8241665" cy="4603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dirty="0">
                <a:ea typeface="Alibaba PuHuiTi R" pitchFamily="18" charset="-122"/>
                <a:sym typeface="+mn-ea"/>
              </a:rPr>
              <a:t>定义</a:t>
            </a:r>
            <a:r>
              <a:rPr sz="1600" dirty="0">
                <a:ea typeface="Alibaba PuHuiTi R" pitchFamily="18" charset="-122"/>
                <a:sym typeface="+mn-ea"/>
              </a:rPr>
              <a:t>一个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既能装饰减法运算，又能装饰加法运算</a:t>
            </a:r>
            <a:r>
              <a:rPr sz="1600" dirty="0">
                <a:ea typeface="Alibaba PuHuiTi R" pitchFamily="18" charset="-122"/>
                <a:sym typeface="+mn-ea"/>
              </a:rPr>
              <a:t>的装饰器，即带有参数的装饰器。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10880" y="1625103"/>
            <a:ext cx="1412240" cy="534035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需求</a:t>
            </a:r>
            <a:endParaRPr lang="zh-CN" altLang="en-US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1148059" y="2326970"/>
            <a:ext cx="4008739" cy="378565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装饰器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外部函数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decorator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, flag):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内部函数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(num1, num2):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判断流程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if </a:t>
            </a:r>
            <a:r>
              <a:rPr lang="en-GB" altLang="zh-CN" sz="1600" dirty="0"/>
              <a:t>flag ==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"+"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"--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正在努力加法计算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--"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</a:t>
            </a:r>
            <a:r>
              <a:rPr lang="en-GB" altLang="zh-CN" sz="1600" dirty="0" err="1">
                <a:solidFill>
                  <a:srgbClr val="0033B3"/>
                </a:solidFill>
                <a:effectLst/>
              </a:rPr>
              <a:t>elif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 </a:t>
            </a:r>
            <a:r>
              <a:rPr lang="en-GB" altLang="zh-CN" sz="1600" dirty="0"/>
              <a:t>flag ==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"-"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"--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正在努力减法计算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--"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</a:t>
            </a:r>
            <a:r>
              <a:rPr lang="en-GB" altLang="zh-CN" sz="1600" dirty="0"/>
              <a:t>result = 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(num1, num2)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result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</a:t>
            </a:r>
            <a:br>
              <a:rPr lang="en-GB" altLang="zh-CN" sz="1600" dirty="0"/>
            </a:b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5454267" y="2326970"/>
            <a:ext cx="4008739" cy="255454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被带有参数的装饰器装饰的函数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dirty="0">
                <a:solidFill>
                  <a:srgbClr val="9E880D"/>
                </a:solidFill>
                <a:effectLst/>
              </a:rPr>
              <a:t>@</a:t>
            </a:r>
            <a:r>
              <a:rPr lang="en-GB" altLang="zh-CN" sz="1600" dirty="0">
                <a:solidFill>
                  <a:srgbClr val="9E880D"/>
                </a:solidFill>
                <a:effectLst/>
              </a:rPr>
              <a:t>decorator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'+'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add</a:t>
            </a:r>
            <a:r>
              <a:rPr lang="en-GB" altLang="zh-CN" sz="1600" dirty="0"/>
              <a:t>(a, b):</a:t>
            </a:r>
            <a:br>
              <a:rPr lang="en-GB" altLang="zh-CN" sz="1600" dirty="0"/>
            </a:br>
            <a:r>
              <a:rPr lang="en-GB" altLang="zh-CN" sz="1600" dirty="0"/>
              <a:t>    result = a + b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result</a:t>
            </a:r>
            <a:br>
              <a:rPr lang="en-GB" altLang="zh-CN" sz="1600" dirty="0"/>
            </a:b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执行函数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/>
              <a:t>result = add(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3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(result)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54267" y="5308660"/>
            <a:ext cx="5034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装饰器只能接收一个参数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带有参数的装饰器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421717" y="1625103"/>
            <a:ext cx="8241665" cy="4603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dirty="0">
                <a:ea typeface="Alibaba PuHuiTi R" pitchFamily="18" charset="-122"/>
                <a:sym typeface="+mn-ea"/>
              </a:rPr>
              <a:t>定义</a:t>
            </a:r>
            <a:r>
              <a:rPr sz="1600" dirty="0">
                <a:ea typeface="Alibaba PuHuiTi R" pitchFamily="18" charset="-122"/>
                <a:sym typeface="+mn-ea"/>
              </a:rPr>
              <a:t>一个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既能装饰减法运算，又能装饰加法运算</a:t>
            </a:r>
            <a:r>
              <a:rPr sz="1600" dirty="0">
                <a:ea typeface="Alibaba PuHuiTi R" pitchFamily="18" charset="-122"/>
                <a:sym typeface="+mn-ea"/>
              </a:rPr>
              <a:t>的装饰器，即带有参数的装饰器。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10880" y="1625103"/>
            <a:ext cx="1412240" cy="534035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需求</a:t>
            </a:r>
            <a:endParaRPr lang="zh-CN" altLang="en-US" sz="20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320827" y="2257065"/>
            <a:ext cx="4201779" cy="427809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#1.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定义装饰器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logging</a:t>
            </a:r>
            <a:r>
              <a:rPr lang="en-GB" altLang="zh-CN" sz="1600" dirty="0"/>
              <a:t>(flag):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flag = "+"</a:t>
            </a:r>
            <a:br>
              <a:rPr lang="en-GB" altLang="zh-CN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    # 1.1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外部函数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decorator</a:t>
            </a:r>
            <a:r>
              <a:rPr lang="en-GB" altLang="zh-CN" sz="1600" dirty="0"/>
              <a:t>(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1.2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内部函数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inner</a:t>
            </a:r>
            <a:r>
              <a:rPr lang="en-GB" altLang="zh-CN" sz="1600" dirty="0"/>
              <a:t>(num1, num2):</a:t>
            </a:r>
            <a:br>
              <a:rPr lang="en-GB" altLang="zh-CN" sz="1600" dirty="0"/>
            </a:br>
            <a:r>
              <a:rPr lang="en-GB" altLang="zh-CN" sz="1600" dirty="0"/>
              <a:t>         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判断流程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if </a:t>
            </a:r>
            <a:r>
              <a:rPr lang="en-GB" altLang="zh-CN" sz="1600" dirty="0"/>
              <a:t>flag ==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"+"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    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"--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正在努力加法计算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--"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    </a:t>
            </a:r>
            <a:r>
              <a:rPr lang="en-GB" altLang="zh-CN" sz="1600" dirty="0" err="1">
                <a:solidFill>
                  <a:srgbClr val="0033B3"/>
                </a:solidFill>
                <a:effectLst/>
              </a:rPr>
              <a:t>elif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 </a:t>
            </a:r>
            <a:r>
              <a:rPr lang="en-GB" altLang="zh-CN" sz="1600" dirty="0"/>
              <a:t>flag ==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"-"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    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"--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正在努力减法计算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--"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        </a:t>
            </a:r>
            <a:r>
              <a:rPr lang="en-GB" altLang="zh-CN" sz="1600" dirty="0"/>
              <a:t>result = </a:t>
            </a:r>
            <a:r>
              <a:rPr lang="en-GB" altLang="zh-CN" sz="1600" dirty="0" err="1"/>
              <a:t>fn</a:t>
            </a:r>
            <a:r>
              <a:rPr lang="en-GB" altLang="zh-CN" sz="1600" dirty="0"/>
              <a:t>(num1, num2)</a:t>
            </a:r>
            <a:br>
              <a:rPr lang="en-GB" altLang="zh-CN" sz="1600" dirty="0"/>
            </a:br>
            <a:r>
              <a:rPr lang="en-GB" altLang="zh-CN" sz="1600" dirty="0"/>
              <a:t>    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result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返回内部函数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inner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返回装饰器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decorator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2" name="TextBox 3"/>
          <p:cNvSpPr txBox="1"/>
          <p:nvPr/>
        </p:nvSpPr>
        <p:spPr>
          <a:xfrm>
            <a:off x="4675184" y="2253310"/>
            <a:ext cx="4201779" cy="378565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1600" i="1" dirty="0">
                <a:solidFill>
                  <a:srgbClr val="8C8C8C"/>
                </a:solidFill>
                <a:effectLst/>
              </a:rPr>
              <a:t># 2.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被带有参数的装饰器装饰的函数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US" altLang="zh-CN" sz="1600" dirty="0">
                <a:solidFill>
                  <a:srgbClr val="9E880D"/>
                </a:solidFill>
                <a:effectLst/>
              </a:rPr>
              <a:t>@</a:t>
            </a:r>
            <a:r>
              <a:rPr lang="en-GB" altLang="zh-CN" sz="1600" dirty="0">
                <a:solidFill>
                  <a:srgbClr val="9E880D"/>
                </a:solidFill>
                <a:effectLst/>
              </a:rPr>
              <a:t>logging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'+'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add</a:t>
            </a:r>
            <a:r>
              <a:rPr lang="en-GB" altLang="zh-CN" sz="1600" dirty="0"/>
              <a:t>(a, b):</a:t>
            </a:r>
            <a:br>
              <a:rPr lang="en-GB" altLang="zh-CN" sz="1600" dirty="0"/>
            </a:br>
            <a:r>
              <a:rPr lang="en-GB" altLang="zh-CN" sz="1600" dirty="0"/>
              <a:t>    result = a + b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result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dirty="0">
                <a:solidFill>
                  <a:srgbClr val="9E880D"/>
                </a:solidFill>
                <a:effectLst/>
              </a:rPr>
              <a:t>@logging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'-'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  <a:effectLst/>
              </a:rPr>
              <a:t>reduce</a:t>
            </a:r>
            <a:r>
              <a:rPr lang="en-GB" altLang="zh-CN" sz="1600" dirty="0"/>
              <a:t>(a, b):</a:t>
            </a:r>
            <a:br>
              <a:rPr lang="en-GB" altLang="zh-CN" sz="1600" dirty="0"/>
            </a:br>
            <a:r>
              <a:rPr lang="en-GB" altLang="zh-CN" sz="1600" dirty="0"/>
              <a:t>    result = a - b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/>
              <a:t>result</a:t>
            </a:r>
            <a:br>
              <a:rPr lang="en-GB" altLang="zh-CN" sz="1600" dirty="0"/>
            </a:b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# 3.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执行函数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/>
              <a:t>result = add(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1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3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(result)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233647" y="2945807"/>
            <a:ext cx="2637526" cy="21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使用带有参数的装饰器，其实是在装饰器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Helvetica Neue" panose="02000503000000020004" pitchFamily="2" charset="0"/>
              </a:rPr>
              <a:t>外面又包裹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了一个函数，使用该函数接收参数，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Helvetica Neue" panose="02000503000000020004" pitchFamily="2" charset="0"/>
              </a:rPr>
              <a:t>返回装饰器</a:t>
            </a:r>
            <a:r>
              <a:rPr lang="zh-CN" altLang="en-US" dirty="0">
                <a:solidFill>
                  <a:srgbClr val="FF0000"/>
                </a:solidFill>
                <a:latin typeface="Helvetica Neue" panose="02000503000000020004" pitchFamily="2" charset="0"/>
              </a:rPr>
              <a:t>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282633" y="2407534"/>
            <a:ext cx="7171762" cy="2716916"/>
          </a:xfrm>
        </p:spPr>
        <p:txBody>
          <a:bodyPr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编写多个装饰器的代码过程是？</a:t>
            </a: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离函数最近的装饰器先装饰，然后外面的装饰器再进行装饰，</a:t>
            </a:r>
            <a:endParaRPr lang="en-US" altLang="zh-CN" sz="1600" b="0" i="0" dirty="0">
              <a:solidFill>
                <a:srgbClr val="333333"/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由</a:t>
            </a:r>
            <a:r>
              <a:rPr lang="zh-CN" altLang="en-US" sz="1600" b="0" i="0" dirty="0">
                <a:solidFill>
                  <a:srgbClr val="C00000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内到外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的装饰过程</a:t>
            </a:r>
            <a:endParaRPr lang="en-US" altLang="zh-CN" sz="1600" b="0" i="0" dirty="0">
              <a:solidFill>
                <a:srgbClr val="333333"/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2"/>
            </a:pPr>
            <a:r>
              <a:rPr lang="zh-CN" altLang="en-US" dirty="0"/>
              <a:t>编写带有参数的装饰器代码的的过程是？</a:t>
            </a:r>
            <a:endParaRPr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     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使用带有参数的装饰器，其实是在装饰器</a:t>
            </a:r>
            <a:r>
              <a:rPr lang="zh-CN" altLang="en-US" sz="1600" b="0" i="0" dirty="0">
                <a:solidFill>
                  <a:srgbClr val="FF0000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外面又包裹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了一个函数，</a:t>
            </a:r>
            <a:endParaRPr lang="en-US" altLang="zh-CN" sz="1600" b="0" i="0" dirty="0">
              <a:solidFill>
                <a:srgbClr val="333333"/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使用该函数接收参数，</a:t>
            </a:r>
            <a:r>
              <a:rPr lang="zh-CN" altLang="en-US" sz="1600" b="0" i="0" dirty="0">
                <a:solidFill>
                  <a:srgbClr val="FF0000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返回装饰器</a:t>
            </a:r>
            <a:r>
              <a:rPr lang="zh-CN" altLang="en-US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zh-CN" altLang="en-US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37842" y="598344"/>
            <a:ext cx="6242492" cy="4937957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闭包介绍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闭包的使用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多个装饰器的使用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带有参数装饰器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rgbClr val="FF0000"/>
                </a:solidFill>
              </a:rPr>
              <a:t>深浅拷贝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en-US" altLang="zh-CN" dirty="0">
                <a:solidFill>
                  <a:srgbClr val="FF0000"/>
                </a:solidFill>
              </a:rPr>
              <a:t>       </a:t>
            </a:r>
            <a:r>
              <a:rPr kumimoji="1" lang="zh-CN" altLang="en-US" dirty="0">
                <a:solidFill>
                  <a:srgbClr val="FF0000"/>
                </a:solidFill>
              </a:rPr>
              <a:t>浅拷贝、深拷贝</a:t>
            </a:r>
            <a:endParaRPr kumimoji="1" lang="en-US" altLang="zh-CN" dirty="0">
              <a:solidFill>
                <a:srgbClr val="FF0000"/>
              </a:solidFill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9792" y="4451831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、可变类型与不可变类型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21201" y="1635972"/>
            <a:ext cx="10749598" cy="2783628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不可变对象：一旦创建就不可修改的对象，包括字符串、元组、数值类型（整型、浮点型）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该对象所指向的内存中的值不能被改变。当改变某个变量时候，由于其所指的值不能被改变，相当于把原来的值复制一份后再改变，这会开辟一个新的地址，变量再指向这个新的地址。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dirty="0">
              <a:solidFill>
                <a:srgbClr val="C00000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effectLst/>
                <a:latin typeface="Helvetica Neue"/>
              </a:rPr>
              <a:t>可变对象：可以修改的对象，包括列表、字典、集合</a:t>
            </a:r>
            <a:endParaRPr lang="en-US" altLang="zh-CN" b="0" i="0" dirty="0"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该对象所指向的内存中的值可以被改变。变量（准确的说是引用）改变后，实际上是其所指的值直接发生改变，并没有发生复制行为，也没有开辟新的地址，通俗点说就是原地改变。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、变量赋值执行原理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10879" y="2313499"/>
            <a:ext cx="10749598" cy="1703330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Python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解释器干的事情：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① 创建变量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a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②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创建一个对象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(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分配一块内存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)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，来存储值 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'python'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③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将变量与对象，通过指针连接起来，从变量到对象的连接称之为引用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(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变量引用对象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)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710879" y="1695446"/>
            <a:ext cx="10749599" cy="37741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 = "python"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1022" y="4384143"/>
            <a:ext cx="7529212" cy="179085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3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、浅拷贝概念与原始数据准备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10879" y="2313499"/>
            <a:ext cx="10749598" cy="528024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浅拷贝之所以称为浅拷贝，是它仅仅只拷贝了一层，拷贝了最外围的对象本身，内部的元素都只是拷贝了一个引用而已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dirty="0">
              <a:solidFill>
                <a:srgbClr val="C00000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effectLst/>
                <a:latin typeface="Helvetica Neue"/>
              </a:rPr>
              <a:t>原始数据：</a:t>
            </a:r>
            <a:endParaRPr lang="zh-CN" altLang="en-US" b="0" i="0" dirty="0">
              <a:effectLst/>
              <a:latin typeface="Helvetica Neue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710879" y="1695446"/>
            <a:ext cx="10749599" cy="37741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浅拷贝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创建新对象，其内容是原对象的引用。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996" y="3837530"/>
            <a:ext cx="10516880" cy="208038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4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、可变类型浅拷贝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13" y="1673995"/>
            <a:ext cx="10985573" cy="424392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4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、不可变类型浅拷贝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80" y="1635973"/>
            <a:ext cx="10749598" cy="376289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5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、浅拷贝总结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21201" y="1635973"/>
            <a:ext cx="10749598" cy="4097133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zh-CN" b="0" i="0" dirty="0">
                <a:effectLst/>
                <a:latin typeface="Helvetica Neue"/>
              </a:rPr>
              <a:t>1</a:t>
            </a:r>
            <a:r>
              <a:rPr lang="zh-CN" altLang="en-US" b="0" i="0" dirty="0">
                <a:effectLst/>
                <a:latin typeface="Helvetica Neue"/>
              </a:rPr>
              <a:t>）当浅复制的值是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不可变对象</a:t>
            </a:r>
            <a:r>
              <a:rPr lang="zh-CN" altLang="en-US" b="0" i="0" dirty="0">
                <a:effectLst/>
                <a:latin typeface="Helvetica Neue"/>
              </a:rPr>
              <a:t>（字符串、元组、数值类型）时和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“赋值”</a:t>
            </a:r>
            <a:r>
              <a:rPr lang="zh-CN" altLang="en-US" b="0" i="0" dirty="0">
                <a:effectLst/>
                <a:latin typeface="Helvetica Neue"/>
              </a:rPr>
              <a:t>的情况一样，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对象的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id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值（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id()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函数用于获取对象的内存地址）与浅复制原来的值相同。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dirty="0"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effectLst/>
                <a:latin typeface="Helvetica Neue"/>
              </a:rPr>
              <a:t>2</a:t>
            </a:r>
            <a:r>
              <a:rPr lang="zh-CN" altLang="en-US" b="0" i="0" dirty="0">
                <a:effectLst/>
                <a:latin typeface="Helvetica Neue"/>
              </a:rPr>
              <a:t>）当浅复制的值是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可变对象（列表、字典、集合）</a:t>
            </a:r>
            <a:r>
              <a:rPr lang="zh-CN" altLang="en-US" b="0" i="0" dirty="0">
                <a:effectLst/>
                <a:latin typeface="Helvetica Neue"/>
              </a:rPr>
              <a:t>时会产生一个“不是那么独立的对象”存在。</a:t>
            </a:r>
            <a:endParaRPr lang="en-US" altLang="zh-CN" dirty="0"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effectLst/>
                <a:latin typeface="Helvetica Neue"/>
              </a:rPr>
              <a:t>有两种情况：</a:t>
            </a:r>
            <a:endParaRPr lang="en-US" altLang="zh-CN" b="0" i="0" dirty="0"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effectLst/>
                <a:latin typeface="Helvetica Neue"/>
              </a:rPr>
              <a:t>第一种情况：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复制的对象中无复杂子对象，原来值的改变并不会影响浅复制的值，同时浅复制的值改变也并不会影响原来的值。原来值的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id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值与浅复制原来的值不同。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b="0" i="0" dirty="0"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effectLst/>
                <a:latin typeface="Helvetica Neue"/>
              </a:rPr>
              <a:t>第二种情况：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复制的对象中有复杂子对象（例如列表中的一个子元素是一个列表），如果不改变其中复杂子对象，浅复制的值改变并不会影响原来的值。 但是改变原来的值中的复杂子对象的值会影响浅复制的值。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6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、深拷贝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21201" y="1635973"/>
            <a:ext cx="10749598" cy="4097133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effectLst/>
                <a:latin typeface="Helvetica Neue"/>
              </a:rPr>
              <a:t>深拷贝：和浅拷贝对应，深拷贝拷贝了对象的所有元素，包括多层嵌套的元素。深拷贝出来的对象是一个全新的对象，不再与原来的对象有任何关联。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所以改变原有被复制对象不会对已经复制出来的新对象产生影响。只有一种形式，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copy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模块中的</a:t>
            </a:r>
            <a:r>
              <a:rPr lang="en-US" altLang="zh-CN" b="0" i="0" dirty="0" err="1">
                <a:solidFill>
                  <a:srgbClr val="C00000"/>
                </a:solidFill>
                <a:effectLst/>
                <a:latin typeface="Helvetica Neue"/>
              </a:rPr>
              <a:t>deepcopy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函数。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7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、可变类型深拷贝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79" y="1635973"/>
            <a:ext cx="10749599" cy="443910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8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、不可变类型深拷贝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21201" y="1635973"/>
            <a:ext cx="10749598" cy="4097133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effectLst/>
                <a:latin typeface="Helvetica Neue"/>
              </a:rPr>
              <a:t>不可变类型深拷贝：不可变类型进行深拷贝不会给拷贝的对象开辟新的内存空间，而只是拷贝了这个对象的引用。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79" y="2444203"/>
            <a:ext cx="11252103" cy="328890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626500" y="2070542"/>
            <a:ext cx="6840006" cy="2716916"/>
          </a:xfrm>
        </p:spPr>
        <p:txBody>
          <a:bodyPr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什么是浅拷贝？</a:t>
            </a: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答：</a:t>
            </a:r>
            <a:r>
              <a:rPr lang="zh-CN" altLang="en-US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仅拷贝对象的引用，新的对象与原对象共享内存中的子对象。如果子对象发生变化，两个对象都会受影响。</a:t>
            </a:r>
            <a:endParaRPr lang="en-US" altLang="zh-CN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2. </a:t>
            </a:r>
            <a:r>
              <a:rPr lang="zh-CN" altLang="en-US" dirty="0"/>
              <a:t>什么是深拷贝？</a:t>
            </a: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答：</a:t>
            </a:r>
            <a:r>
              <a:rPr lang="zh-CN" altLang="en-US" sz="16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拷贝对象及其所包含的所有子对象的独立副本。新对象与原对象完全独立，修改新对象不会影响原对象。</a:t>
            </a:r>
            <a:endParaRPr lang="en-US" altLang="zh-CN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TQ2YzdiNTQ4YzdkMDBkYmYyNWE2ODkxOWQ2NWMwN2EifQ=="/>
  <p:tag name="commondata" val="eyJoZGlkIjoiY2JmMDE5MTQzZGQ1Mzc0ZDdhNDNkNWNjY2UwNzk4OTU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8426</Words>
  <Application>WPS 演示</Application>
  <PresentationFormat>宽屏</PresentationFormat>
  <Paragraphs>407</Paragraphs>
  <Slides>44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44</vt:i4>
      </vt:variant>
    </vt:vector>
  </HeadingPairs>
  <TitlesOfParts>
    <vt:vector size="75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纤黑体</vt:lpstr>
      <vt:lpstr>Helvetica Neue</vt:lpstr>
      <vt:lpstr>Arial Unicode MS</vt:lpstr>
      <vt:lpstr>等线</vt:lpstr>
      <vt:lpstr>Helvetica Neue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2_正文设计方案</vt:lpstr>
      <vt:lpstr>3_正文设计方案</vt:lpstr>
      <vt:lpstr>3_学习目标</vt:lpstr>
      <vt:lpstr>6_学习目标</vt:lpstr>
      <vt:lpstr>7_学习目标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Python高级语法</vt:lpstr>
      <vt:lpstr>Python高级语法</vt:lpstr>
      <vt:lpstr>Python高级语法</vt:lpstr>
      <vt:lpstr>Python高级语法</vt:lpstr>
      <vt:lpstr>Python高级语法</vt:lpstr>
      <vt:lpstr>Python高级语法</vt:lpstr>
      <vt:lpstr>Python高级语法</vt:lpstr>
      <vt:lpstr>Python高级语法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cndws</cp:lastModifiedBy>
  <cp:revision>1136</cp:revision>
  <dcterms:created xsi:type="dcterms:W3CDTF">2020-03-31T02:23:00Z</dcterms:created>
  <dcterms:modified xsi:type="dcterms:W3CDTF">2024-08-20T03:38:51Z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B8F5CFD6E6A044F687CAA08E77445706</vt:lpwstr>
  </property>
  <property fmtid="{D5CDD505-2E9C-101B-9397-08002B2CF9AE}" pid="3" name="KSOProductBuildVer">
    <vt:lpwstr>2052-12.1.0.17147</vt:lpwstr>
  </property>
</Properties>
</file>